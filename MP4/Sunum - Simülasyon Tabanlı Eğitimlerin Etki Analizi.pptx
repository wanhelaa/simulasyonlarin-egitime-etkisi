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Raleway" charset="1" panose="00000000000000000000"/>
      <p:regular r:id="rId16"/>
    </p:embeddedFont>
    <p:embeddedFont>
      <p:font typeface="Proxima Nova Condensed Bold" charset="1" panose="02000506030000020004"/>
      <p:regular r:id="rId17"/>
    </p:embeddedFont>
    <p:embeddedFont>
      <p:font typeface="Touvlo" charset="1" panose="020B0604030403020204"/>
      <p:regular r:id="rId18"/>
    </p:embeddedFont>
    <p:embeddedFont>
      <p:font typeface="Touvlo Bold" charset="1" panose="020B0804030403020204"/>
      <p:regular r:id="rId19"/>
    </p:embeddedFont>
    <p:embeddedFont>
      <p:font typeface="Raleway Bold"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296400" y="1562100"/>
            <a:ext cx="8324850" cy="6305591"/>
            <a:chOff x="0" y="0"/>
            <a:chExt cx="11099800" cy="8407454"/>
          </a:xfrm>
        </p:grpSpPr>
        <p:sp>
          <p:nvSpPr>
            <p:cNvPr name="TextBox 3" id="3"/>
            <p:cNvSpPr txBox="true"/>
            <p:nvPr/>
          </p:nvSpPr>
          <p:spPr>
            <a:xfrm rot="0">
              <a:off x="0" y="190500"/>
              <a:ext cx="11099800" cy="7490463"/>
            </a:xfrm>
            <a:prstGeom prst="rect">
              <a:avLst/>
            </a:prstGeom>
          </p:spPr>
          <p:txBody>
            <a:bodyPr anchor="t" rtlCol="false" tIns="0" lIns="0" bIns="0" rIns="0">
              <a:spAutoFit/>
            </a:bodyPr>
            <a:lstStyle/>
            <a:p>
              <a:pPr algn="l" marL="0" indent="0" lvl="0">
                <a:lnSpc>
                  <a:spcPts val="10800"/>
                </a:lnSpc>
              </a:pPr>
              <a:r>
                <a:rPr lang="en-US" sz="10800">
                  <a:solidFill>
                    <a:srgbClr val="494949"/>
                  </a:solidFill>
                  <a:latin typeface="Raleway"/>
                  <a:ea typeface="Raleway"/>
                  <a:cs typeface="Raleway"/>
                  <a:sym typeface="Raleway"/>
                </a:rPr>
                <a:t>Simülasyon Tabanlı Eğitimlerin Etki Analizi</a:t>
              </a:r>
            </a:p>
          </p:txBody>
        </p:sp>
        <p:sp>
          <p:nvSpPr>
            <p:cNvPr name="TextBox 4" id="4"/>
            <p:cNvSpPr txBox="true"/>
            <p:nvPr/>
          </p:nvSpPr>
          <p:spPr>
            <a:xfrm rot="0">
              <a:off x="0" y="7731179"/>
              <a:ext cx="11099800" cy="676275"/>
            </a:xfrm>
            <a:prstGeom prst="rect">
              <a:avLst/>
            </a:prstGeom>
          </p:spPr>
          <p:txBody>
            <a:bodyPr anchor="t" rtlCol="false" tIns="0" lIns="0" bIns="0" rIns="0">
              <a:spAutoFit/>
            </a:bodyPr>
            <a:lstStyle/>
            <a:p>
              <a:pPr algn="l" marL="0" indent="0" lvl="0">
                <a:lnSpc>
                  <a:spcPts val="4200"/>
                </a:lnSpc>
              </a:pPr>
              <a:r>
                <a:rPr lang="en-US" sz="3000">
                  <a:solidFill>
                    <a:srgbClr val="494949"/>
                  </a:solidFill>
                  <a:latin typeface="Raleway"/>
                  <a:ea typeface="Raleway"/>
                  <a:cs typeface="Raleway"/>
                  <a:sym typeface="Raleway"/>
                </a:rPr>
                <a:t>Sunumu yapan: [İsim Soyisim]</a:t>
              </a:r>
            </a:p>
          </p:txBody>
        </p:sp>
      </p:grpSp>
      <p:sp>
        <p:nvSpPr>
          <p:cNvPr name="TextBox 5" id="5"/>
          <p:cNvSpPr txBox="true"/>
          <p:nvPr/>
        </p:nvSpPr>
        <p:spPr>
          <a:xfrm rot="0">
            <a:off x="9296400" y="9261475"/>
            <a:ext cx="6886575" cy="358775"/>
          </a:xfrm>
          <a:prstGeom prst="rect">
            <a:avLst/>
          </a:prstGeom>
        </p:spPr>
        <p:txBody>
          <a:bodyPr anchor="t" rtlCol="false" tIns="0" lIns="0" bIns="0" rIns="0">
            <a:spAutoFit/>
          </a:bodyPr>
          <a:lstStyle/>
          <a:p>
            <a:pPr algn="l" marL="0" indent="0" lvl="0">
              <a:lnSpc>
                <a:spcPts val="2800"/>
              </a:lnSpc>
            </a:pPr>
            <a:r>
              <a:rPr lang="en-US" sz="2000">
                <a:solidFill>
                  <a:srgbClr val="494949"/>
                </a:solidFill>
                <a:latin typeface="Raleway"/>
                <a:ea typeface="Raleway"/>
                <a:cs typeface="Raleway"/>
                <a:sym typeface="Raleway"/>
              </a:rPr>
              <a:t>26 Kasım 2025, 10:00, [Yer Adı]</a:t>
            </a:r>
          </a:p>
        </p:txBody>
      </p:sp>
      <p:grpSp>
        <p:nvGrpSpPr>
          <p:cNvPr name="Group 6" id="6"/>
          <p:cNvGrpSpPr/>
          <p:nvPr/>
        </p:nvGrpSpPr>
        <p:grpSpPr>
          <a:xfrm rot="0">
            <a:off x="9296400" y="666750"/>
            <a:ext cx="5489342" cy="445682"/>
            <a:chOff x="0" y="0"/>
            <a:chExt cx="7319123" cy="594243"/>
          </a:xfrm>
        </p:grpSpPr>
        <p:sp>
          <p:nvSpPr>
            <p:cNvPr name="TextBox 7" id="7"/>
            <p:cNvSpPr txBox="true"/>
            <p:nvPr/>
          </p:nvSpPr>
          <p:spPr>
            <a:xfrm rot="0">
              <a:off x="956381" y="104226"/>
              <a:ext cx="6362742" cy="490008"/>
            </a:xfrm>
            <a:prstGeom prst="rect">
              <a:avLst/>
            </a:prstGeom>
          </p:spPr>
          <p:txBody>
            <a:bodyPr anchor="t" rtlCol="false" tIns="0" lIns="0" bIns="0" rIns="0">
              <a:spAutoFit/>
            </a:bodyPr>
            <a:lstStyle/>
            <a:p>
              <a:pPr algn="l" marL="0" indent="0" lvl="0">
                <a:lnSpc>
                  <a:spcPts val="2750"/>
                </a:lnSpc>
              </a:pPr>
              <a:r>
                <a:rPr lang="en-US" sz="2500">
                  <a:solidFill>
                    <a:srgbClr val="494949"/>
                  </a:solidFill>
                  <a:latin typeface="Raleway"/>
                  <a:ea typeface="Raleway"/>
                  <a:cs typeface="Raleway"/>
                  <a:sym typeface="Raleway"/>
                </a:rPr>
                <a:t>Eğitim Analizi</a:t>
              </a:r>
            </a:p>
          </p:txBody>
        </p:sp>
        <p:sp>
          <p:nvSpPr>
            <p:cNvPr name="Freeform 8" id="8"/>
            <p:cNvSpPr/>
            <p:nvPr/>
          </p:nvSpPr>
          <p:spPr>
            <a:xfrm flipH="false" flipV="false" rot="0">
              <a:off x="0" y="0"/>
              <a:ext cx="594243" cy="594243"/>
            </a:xfrm>
            <a:custGeom>
              <a:avLst/>
              <a:gdLst/>
              <a:ahLst/>
              <a:cxnLst/>
              <a:rect r="r" b="b" t="t" l="l"/>
              <a:pathLst>
                <a:path h="594243" w="594243">
                  <a:moveTo>
                    <a:pt x="0" y="0"/>
                  </a:moveTo>
                  <a:lnTo>
                    <a:pt x="594243" y="0"/>
                  </a:lnTo>
                  <a:lnTo>
                    <a:pt x="594243" y="594243"/>
                  </a:lnTo>
                  <a:lnTo>
                    <a:pt x="0" y="5942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9" id="9"/>
          <p:cNvGrpSpPr/>
          <p:nvPr/>
        </p:nvGrpSpPr>
        <p:grpSpPr>
          <a:xfrm rot="5400000">
            <a:off x="8362950" y="361950"/>
            <a:ext cx="1562100" cy="18288000"/>
            <a:chOff x="0" y="0"/>
            <a:chExt cx="411417" cy="4816593"/>
          </a:xfrm>
        </p:grpSpPr>
        <p:sp>
          <p:nvSpPr>
            <p:cNvPr name="Freeform 10" id="10"/>
            <p:cNvSpPr/>
            <p:nvPr/>
          </p:nvSpPr>
          <p:spPr>
            <a:xfrm flipH="false" flipV="false" rot="0">
              <a:off x="0" y="0"/>
              <a:ext cx="411417" cy="4816592"/>
            </a:xfrm>
            <a:custGeom>
              <a:avLst/>
              <a:gdLst/>
              <a:ahLst/>
              <a:cxnLst/>
              <a:rect r="r" b="b" t="t" l="l"/>
              <a:pathLst>
                <a:path h="4816592" w="411417">
                  <a:moveTo>
                    <a:pt x="0" y="0"/>
                  </a:moveTo>
                  <a:lnTo>
                    <a:pt x="411417" y="0"/>
                  </a:lnTo>
                  <a:lnTo>
                    <a:pt x="411417" y="4816592"/>
                  </a:lnTo>
                  <a:lnTo>
                    <a:pt x="0" y="4816592"/>
                  </a:lnTo>
                  <a:close/>
                </a:path>
              </a:pathLst>
            </a:custGeom>
            <a:solidFill>
              <a:srgbClr val="EAE9E9"/>
            </a:solidFill>
          </p:spPr>
        </p:sp>
        <p:sp>
          <p:nvSpPr>
            <p:cNvPr name="TextBox 11" id="11"/>
            <p:cNvSpPr txBox="true"/>
            <p:nvPr/>
          </p:nvSpPr>
          <p:spPr>
            <a:xfrm>
              <a:off x="0" y="171450"/>
              <a:ext cx="411417" cy="4645143"/>
            </a:xfrm>
            <a:prstGeom prst="rect">
              <a:avLst/>
            </a:prstGeom>
          </p:spPr>
          <p:txBody>
            <a:bodyPr anchor="ctr" rtlCol="false" tIns="50800" lIns="50800" bIns="50800" rIns="50800"/>
            <a:lstStyle/>
            <a:p>
              <a:pPr algn="l" marL="0" indent="0" lvl="0">
                <a:lnSpc>
                  <a:spcPts val="8499"/>
                </a:lnSpc>
                <a:spcBef>
                  <a:spcPct val="0"/>
                </a:spcBef>
              </a:pPr>
            </a:p>
          </p:txBody>
        </p:sp>
      </p:grpSp>
      <p:grpSp>
        <p:nvGrpSpPr>
          <p:cNvPr name="Group 12" id="12"/>
          <p:cNvGrpSpPr/>
          <p:nvPr/>
        </p:nvGrpSpPr>
        <p:grpSpPr>
          <a:xfrm rot="0">
            <a:off x="9296400" y="0"/>
            <a:ext cx="8991600" cy="8724900"/>
            <a:chOff x="0" y="0"/>
            <a:chExt cx="1035548" cy="1004833"/>
          </a:xfrm>
        </p:grpSpPr>
        <p:sp>
          <p:nvSpPr>
            <p:cNvPr name="Freeform 13" id="13"/>
            <p:cNvSpPr/>
            <p:nvPr/>
          </p:nvSpPr>
          <p:spPr>
            <a:xfrm flipH="false" flipV="false" rot="0">
              <a:off x="0" y="0"/>
              <a:ext cx="1035548" cy="1004833"/>
            </a:xfrm>
            <a:custGeom>
              <a:avLst/>
              <a:gdLst/>
              <a:ahLst/>
              <a:cxnLst/>
              <a:rect r="r" b="b" t="t" l="l"/>
              <a:pathLst>
                <a:path h="1004833" w="1035548">
                  <a:moveTo>
                    <a:pt x="0" y="0"/>
                  </a:moveTo>
                  <a:lnTo>
                    <a:pt x="1035548" y="0"/>
                  </a:lnTo>
                  <a:lnTo>
                    <a:pt x="1035548" y="1004833"/>
                  </a:lnTo>
                  <a:lnTo>
                    <a:pt x="0" y="1004833"/>
                  </a:lnTo>
                  <a:close/>
                </a:path>
              </a:pathLst>
            </a:custGeom>
            <a:blipFill>
              <a:blip r:embed="rId4"/>
              <a:stretch>
                <a:fillRect l="-276" t="0" r="-276" b="0"/>
              </a:stretch>
            </a:blipFill>
          </p:spPr>
        </p:sp>
      </p:grpSp>
      <p:grpSp>
        <p:nvGrpSpPr>
          <p:cNvPr name="Group 14" id="14"/>
          <p:cNvGrpSpPr/>
          <p:nvPr/>
        </p:nvGrpSpPr>
        <p:grpSpPr>
          <a:xfrm rot="0">
            <a:off x="675300" y="1208723"/>
            <a:ext cx="8324850" cy="3601470"/>
            <a:chOff x="0" y="0"/>
            <a:chExt cx="11099800" cy="4801960"/>
          </a:xfrm>
        </p:grpSpPr>
        <p:sp>
          <p:nvSpPr>
            <p:cNvPr name="TextBox 15" id="15"/>
            <p:cNvSpPr txBox="true"/>
            <p:nvPr/>
          </p:nvSpPr>
          <p:spPr>
            <a:xfrm rot="0">
              <a:off x="0" y="209550"/>
              <a:ext cx="11099800" cy="3676642"/>
            </a:xfrm>
            <a:prstGeom prst="rect">
              <a:avLst/>
            </a:prstGeom>
          </p:spPr>
          <p:txBody>
            <a:bodyPr anchor="t" rtlCol="false" tIns="0" lIns="0" bIns="0" rIns="0">
              <a:spAutoFit/>
            </a:bodyPr>
            <a:lstStyle/>
            <a:p>
              <a:pPr algn="l" marL="0" indent="0" lvl="0">
                <a:lnSpc>
                  <a:spcPts val="10499"/>
                </a:lnSpc>
              </a:pPr>
              <a:r>
                <a:rPr lang="en-US" b="true" sz="10499">
                  <a:solidFill>
                    <a:srgbClr val="494949"/>
                  </a:solidFill>
                  <a:latin typeface="Proxima Nova Condensed Bold"/>
                  <a:ea typeface="Proxima Nova Condensed Bold"/>
                  <a:cs typeface="Proxima Nova Condensed Bold"/>
                  <a:sym typeface="Proxima Nova Condensed Bold"/>
                </a:rPr>
                <a:t>MP4 Ödevi Sunumu</a:t>
              </a:r>
            </a:p>
          </p:txBody>
        </p:sp>
        <p:sp>
          <p:nvSpPr>
            <p:cNvPr name="TextBox 16" id="16"/>
            <p:cNvSpPr txBox="true"/>
            <p:nvPr/>
          </p:nvSpPr>
          <p:spPr>
            <a:xfrm rot="0">
              <a:off x="0" y="4146640"/>
              <a:ext cx="11088400" cy="655320"/>
            </a:xfrm>
            <a:prstGeom prst="rect">
              <a:avLst/>
            </a:prstGeom>
          </p:spPr>
          <p:txBody>
            <a:bodyPr anchor="t" rtlCol="false" tIns="0" lIns="0" bIns="0" rIns="0">
              <a:spAutoFit/>
            </a:bodyPr>
            <a:lstStyle/>
            <a:p>
              <a:pPr algn="l" marL="0" indent="0" lvl="0">
                <a:lnSpc>
                  <a:spcPts val="4147"/>
                </a:lnSpc>
              </a:pPr>
              <a:r>
                <a:rPr lang="en-US" sz="2962">
                  <a:solidFill>
                    <a:srgbClr val="494949"/>
                  </a:solidFill>
                  <a:latin typeface="Touvlo"/>
                  <a:ea typeface="Touvlo"/>
                  <a:cs typeface="Touvlo"/>
                  <a:sym typeface="Touvlo"/>
                </a:rPr>
                <a:t>Veri Analizi ve Yorumlama</a:t>
              </a:r>
            </a:p>
          </p:txBody>
        </p:sp>
      </p:grpSp>
      <p:sp>
        <p:nvSpPr>
          <p:cNvPr name="TextBox 17" id="17"/>
          <p:cNvSpPr txBox="true"/>
          <p:nvPr/>
        </p:nvSpPr>
        <p:spPr>
          <a:xfrm rot="0">
            <a:off x="1479524" y="9230208"/>
            <a:ext cx="6073801" cy="389572"/>
          </a:xfrm>
          <a:prstGeom prst="rect">
            <a:avLst/>
          </a:prstGeom>
        </p:spPr>
        <p:txBody>
          <a:bodyPr anchor="t" rtlCol="false" tIns="0" lIns="0" bIns="0" rIns="0">
            <a:spAutoFit/>
          </a:bodyPr>
          <a:lstStyle/>
          <a:p>
            <a:pPr algn="l" marL="0" indent="0" lvl="0">
              <a:lnSpc>
                <a:spcPts val="2962"/>
              </a:lnSpc>
            </a:pPr>
            <a:r>
              <a:rPr lang="en-US" sz="2962">
                <a:solidFill>
                  <a:srgbClr val="494949"/>
                </a:solidFill>
                <a:latin typeface="Touvlo"/>
                <a:ea typeface="Touvlo"/>
                <a:cs typeface="Touvlo"/>
                <a:sym typeface="Touvlo"/>
              </a:rPr>
              <a:t>Veri Analizi</a:t>
            </a:r>
          </a:p>
        </p:txBody>
      </p:sp>
      <p:grpSp>
        <p:nvGrpSpPr>
          <p:cNvPr name="Group 18" id="18"/>
          <p:cNvGrpSpPr/>
          <p:nvPr/>
        </p:nvGrpSpPr>
        <p:grpSpPr>
          <a:xfrm rot="0">
            <a:off x="7006543" y="8775876"/>
            <a:ext cx="10416846" cy="999747"/>
            <a:chOff x="0" y="0"/>
            <a:chExt cx="13889128" cy="1332996"/>
          </a:xfrm>
        </p:grpSpPr>
        <p:sp>
          <p:nvSpPr>
            <p:cNvPr name="TextBox 19" id="19"/>
            <p:cNvSpPr txBox="true"/>
            <p:nvPr/>
          </p:nvSpPr>
          <p:spPr>
            <a:xfrm rot="0">
              <a:off x="0" y="763824"/>
              <a:ext cx="13889128" cy="569172"/>
            </a:xfrm>
            <a:prstGeom prst="rect">
              <a:avLst/>
            </a:prstGeom>
          </p:spPr>
          <p:txBody>
            <a:bodyPr anchor="t" rtlCol="false" tIns="0" lIns="0" bIns="0" rIns="0">
              <a:spAutoFit/>
            </a:bodyPr>
            <a:lstStyle/>
            <a:p>
              <a:pPr algn="l" marL="0" indent="0" lvl="0">
                <a:lnSpc>
                  <a:spcPts val="3639"/>
                </a:lnSpc>
                <a:spcBef>
                  <a:spcPct val="0"/>
                </a:spcBef>
              </a:pPr>
              <a:r>
                <a:rPr lang="en-US" b="true" sz="2599">
                  <a:solidFill>
                    <a:srgbClr val="494949"/>
                  </a:solidFill>
                  <a:latin typeface="Touvlo Bold"/>
                  <a:ea typeface="Touvlo Bold"/>
                  <a:cs typeface="Touvlo Bold"/>
                  <a:sym typeface="Touvlo Bold"/>
                </a:rPr>
                <a:t>Ela Nur İslamoğlu - Hatice Kandemir - Ali gültekin - Anıl Güzel</a:t>
              </a:r>
            </a:p>
          </p:txBody>
        </p:sp>
        <p:sp>
          <p:nvSpPr>
            <p:cNvPr name="TextBox 20" id="20"/>
            <p:cNvSpPr txBox="true"/>
            <p:nvPr/>
          </p:nvSpPr>
          <p:spPr>
            <a:xfrm rot="0">
              <a:off x="0" y="-47625"/>
              <a:ext cx="9517345" cy="557572"/>
            </a:xfrm>
            <a:prstGeom prst="rect">
              <a:avLst/>
            </a:prstGeom>
          </p:spPr>
          <p:txBody>
            <a:bodyPr anchor="t" rtlCol="false" tIns="0" lIns="0" bIns="0" rIns="0">
              <a:spAutoFit/>
            </a:bodyPr>
            <a:lstStyle/>
            <a:p>
              <a:pPr algn="l" marL="0" indent="0" lvl="0">
                <a:lnSpc>
                  <a:spcPts val="3594"/>
                </a:lnSpc>
                <a:spcBef>
                  <a:spcPct val="0"/>
                </a:spcBef>
              </a:pPr>
              <a:r>
                <a:rPr lang="en-US" b="true" sz="2567">
                  <a:solidFill>
                    <a:srgbClr val="494949"/>
                  </a:solidFill>
                  <a:latin typeface="Proxima Nova Condensed Bold"/>
                  <a:ea typeface="Proxima Nova Condensed Bold"/>
                  <a:cs typeface="Proxima Nova Condensed Bold"/>
                  <a:sym typeface="Proxima Nova Condensed Bold"/>
                </a:rPr>
                <a:t>SUNUMU HAZIRLAYANLAR</a:t>
              </a:r>
            </a:p>
          </p:txBody>
        </p:sp>
      </p:grpSp>
      <p:grpSp>
        <p:nvGrpSpPr>
          <p:cNvPr name="Group 21" id="21"/>
          <p:cNvGrpSpPr/>
          <p:nvPr/>
        </p:nvGrpSpPr>
        <p:grpSpPr>
          <a:xfrm rot="0">
            <a:off x="666750" y="9120050"/>
            <a:ext cx="495645" cy="576750"/>
            <a:chOff x="0" y="0"/>
            <a:chExt cx="698500" cy="812800"/>
          </a:xfrm>
        </p:grpSpPr>
        <p:sp>
          <p:nvSpPr>
            <p:cNvPr name="Freeform 22" id="22"/>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name="TextBox 23" id="23"/>
            <p:cNvSpPr txBox="true"/>
            <p:nvPr/>
          </p:nvSpPr>
          <p:spPr>
            <a:xfrm>
              <a:off x="0" y="101600"/>
              <a:ext cx="698500" cy="571500"/>
            </a:xfrm>
            <a:prstGeom prst="rect">
              <a:avLst/>
            </a:prstGeom>
          </p:spPr>
          <p:txBody>
            <a:bodyPr anchor="ctr" rtlCol="false" tIns="50800" lIns="50800" bIns="50800" rIns="50800"/>
            <a:lstStyle/>
            <a:p>
              <a:pPr algn="ctr">
                <a:lnSpc>
                  <a:spcPts val="307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431704" y="9610725"/>
            <a:ext cx="15624461" cy="0"/>
          </a:xfrm>
          <a:prstGeom prst="line">
            <a:avLst/>
          </a:prstGeom>
          <a:ln cap="flat" w="19050">
            <a:solidFill>
              <a:srgbClr val="EAE9E9"/>
            </a:solidFill>
            <a:prstDash val="solid"/>
            <a:headEnd type="none" len="sm" w="sm"/>
            <a:tailEnd type="none" len="sm" w="sm"/>
          </a:ln>
        </p:spPr>
      </p:sp>
      <p:sp>
        <p:nvSpPr>
          <p:cNvPr name="Freeform 3" id="3"/>
          <p:cNvSpPr/>
          <p:nvPr/>
        </p:nvSpPr>
        <p:spPr>
          <a:xfrm flipH="false" flipV="false" rot="0">
            <a:off x="671512" y="9387884"/>
            <a:ext cx="445682" cy="445682"/>
          </a:xfrm>
          <a:custGeom>
            <a:avLst/>
            <a:gdLst/>
            <a:ahLst/>
            <a:cxnLst/>
            <a:rect r="r" b="b" t="t" l="l"/>
            <a:pathLst>
              <a:path h="445682" w="445682">
                <a:moveTo>
                  <a:pt x="0" y="0"/>
                </a:moveTo>
                <a:lnTo>
                  <a:pt x="445683" y="0"/>
                </a:lnTo>
                <a:lnTo>
                  <a:pt x="445683" y="445682"/>
                </a:lnTo>
                <a:lnTo>
                  <a:pt x="0" y="4456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666750" y="666750"/>
            <a:ext cx="8329612" cy="4277333"/>
            <a:chOff x="0" y="0"/>
            <a:chExt cx="11106150" cy="5703110"/>
          </a:xfrm>
        </p:grpSpPr>
        <p:sp>
          <p:nvSpPr>
            <p:cNvPr name="TextBox 5" id="5"/>
            <p:cNvSpPr txBox="true"/>
            <p:nvPr/>
          </p:nvSpPr>
          <p:spPr>
            <a:xfrm rot="0">
              <a:off x="0" y="-66675"/>
              <a:ext cx="11099800" cy="676275"/>
            </a:xfrm>
            <a:prstGeom prst="rect">
              <a:avLst/>
            </a:prstGeom>
          </p:spPr>
          <p:txBody>
            <a:bodyPr anchor="t" rtlCol="false" tIns="0" lIns="0" bIns="0" rIns="0">
              <a:spAutoFit/>
            </a:bodyPr>
            <a:lstStyle/>
            <a:p>
              <a:pPr algn="l" marL="0" indent="0" lvl="0">
                <a:lnSpc>
                  <a:spcPts val="4200"/>
                </a:lnSpc>
              </a:pPr>
            </a:p>
          </p:txBody>
        </p:sp>
        <p:sp>
          <p:nvSpPr>
            <p:cNvPr name="TextBox 6" id="6"/>
            <p:cNvSpPr txBox="true"/>
            <p:nvPr/>
          </p:nvSpPr>
          <p:spPr>
            <a:xfrm rot="0">
              <a:off x="6350" y="1752564"/>
              <a:ext cx="11099800" cy="1752600"/>
            </a:xfrm>
            <a:prstGeom prst="rect">
              <a:avLst/>
            </a:prstGeom>
          </p:spPr>
          <p:txBody>
            <a:bodyPr anchor="t" rtlCol="false" tIns="0" lIns="0" bIns="0" rIns="0">
              <a:spAutoFit/>
            </a:bodyPr>
            <a:lstStyle/>
            <a:p>
              <a:pPr algn="l" marL="0" indent="0" lvl="0">
                <a:lnSpc>
                  <a:spcPts val="9900"/>
                </a:lnSpc>
              </a:pPr>
            </a:p>
          </p:txBody>
        </p:sp>
        <p:sp>
          <p:nvSpPr>
            <p:cNvPr name="TextBox 7" id="7"/>
            <p:cNvSpPr txBox="true"/>
            <p:nvPr/>
          </p:nvSpPr>
          <p:spPr>
            <a:xfrm rot="0">
              <a:off x="6350" y="3514689"/>
              <a:ext cx="11099800" cy="676275"/>
            </a:xfrm>
            <a:prstGeom prst="rect">
              <a:avLst/>
            </a:prstGeom>
          </p:spPr>
          <p:txBody>
            <a:bodyPr anchor="t" rtlCol="false" tIns="0" lIns="0" bIns="0" rIns="0">
              <a:spAutoFit/>
            </a:bodyPr>
            <a:lstStyle/>
            <a:p>
              <a:pPr algn="l" marL="0" indent="0" lvl="0">
                <a:lnSpc>
                  <a:spcPts val="4200"/>
                </a:lnSpc>
              </a:pPr>
            </a:p>
          </p:txBody>
        </p:sp>
        <p:sp>
          <p:nvSpPr>
            <p:cNvPr name="TextBox 8" id="8"/>
            <p:cNvSpPr txBox="true"/>
            <p:nvPr/>
          </p:nvSpPr>
          <p:spPr>
            <a:xfrm rot="0">
              <a:off x="6350" y="5229189"/>
              <a:ext cx="11099800" cy="473922"/>
            </a:xfrm>
            <a:prstGeom prst="rect">
              <a:avLst/>
            </a:prstGeom>
          </p:spPr>
          <p:txBody>
            <a:bodyPr anchor="t" rtlCol="false" tIns="0" lIns="0" bIns="0" rIns="0">
              <a:spAutoFit/>
            </a:bodyPr>
            <a:lstStyle/>
            <a:p>
              <a:pPr algn="l" marL="0" indent="0" lvl="0">
                <a:lnSpc>
                  <a:spcPts val="2860"/>
                </a:lnSpc>
              </a:pPr>
            </a:p>
          </p:txBody>
        </p:sp>
      </p:grpSp>
      <p:sp>
        <p:nvSpPr>
          <p:cNvPr name="TextBox 9" id="9"/>
          <p:cNvSpPr txBox="true"/>
          <p:nvPr/>
        </p:nvSpPr>
        <p:spPr>
          <a:xfrm rot="0">
            <a:off x="17485343" y="9412274"/>
            <a:ext cx="152400" cy="209550"/>
          </a:xfrm>
          <a:prstGeom prst="rect">
            <a:avLst/>
          </a:prstGeom>
        </p:spPr>
        <p:txBody>
          <a:bodyPr anchor="t" rtlCol="false" tIns="0" lIns="0" bIns="0" rIns="0" wrap="none">
            <a:spAutoFit/>
          </a:bodyPr>
          <a:lstStyle/>
          <a:p>
            <a:pPr algn="r">
              <a:lnSpc>
                <a:spcPts val="2800"/>
              </a:lnSpc>
              <a:spcBef>
                <a:spcPct val="0"/>
              </a:spcBef>
            </a:pPr>
            <a:r>
              <a:rPr lang="en-US" sz="2000">
                <a:solidFill>
                  <a:srgbClr val="494949"/>
                </a:solidFill>
                <a:latin typeface="Raleway"/>
                <a:ea typeface="Raleway"/>
                <a:cs typeface="Raleway"/>
                <a:sym typeface="Raleway"/>
              </a:rPr>
              <a:t>2</a:t>
            </a:r>
          </a:p>
        </p:txBody>
      </p:sp>
      <p:sp>
        <p:nvSpPr>
          <p:cNvPr name="TextBox 10" id="10"/>
          <p:cNvSpPr txBox="true"/>
          <p:nvPr/>
        </p:nvSpPr>
        <p:spPr>
          <a:xfrm rot="0">
            <a:off x="3828282" y="3241013"/>
            <a:ext cx="10631437" cy="3348990"/>
          </a:xfrm>
          <a:prstGeom prst="rect">
            <a:avLst/>
          </a:prstGeom>
        </p:spPr>
        <p:txBody>
          <a:bodyPr anchor="t" rtlCol="false" tIns="0" lIns="0" bIns="0" rIns="0">
            <a:spAutoFit/>
          </a:bodyPr>
          <a:lstStyle/>
          <a:p>
            <a:pPr algn="l" marL="0" indent="0" lvl="0">
              <a:lnSpc>
                <a:spcPts val="3360"/>
              </a:lnSpc>
            </a:pPr>
          </a:p>
          <a:p>
            <a:pPr algn="ctr">
              <a:lnSpc>
                <a:spcPts val="3360"/>
              </a:lnSpc>
            </a:pPr>
            <a:r>
              <a:rPr lang="en-US" sz="2400">
                <a:solidFill>
                  <a:srgbClr val="494949"/>
                </a:solidFill>
                <a:latin typeface="Raleway"/>
                <a:ea typeface="Raleway"/>
                <a:cs typeface="Raleway"/>
                <a:sym typeface="Raleway"/>
              </a:rPr>
              <a:t>   Analiz ettiğimiz 10 farklı akademik çalışmanın verileri tamamen eksiksiz ve temizdir. Elde ettiğimiz </a:t>
            </a:r>
            <a:r>
              <a:rPr lang="en-US" b="true" sz="2400">
                <a:solidFill>
                  <a:srgbClr val="494949"/>
                </a:solidFill>
                <a:latin typeface="Raleway Bold"/>
                <a:ea typeface="Raleway Bold"/>
                <a:cs typeface="Raleway Bold"/>
                <a:sym typeface="Raleway Bold"/>
              </a:rPr>
              <a:t>0.66</a:t>
            </a:r>
            <a:r>
              <a:rPr lang="en-US" sz="2400">
                <a:solidFill>
                  <a:srgbClr val="494949"/>
                </a:solidFill>
                <a:latin typeface="Raleway"/>
                <a:ea typeface="Raleway"/>
                <a:cs typeface="Raleway"/>
                <a:sym typeface="Raleway"/>
              </a:rPr>
              <a:t> ortalama ve 0.65 medyan değerleri, literatür standartlarına göre simülasyonların eğitimde "Orta-Yüksek" düzeyde bir başarı sağladığını gösteriyor. Ortalamanın ve medyanın birbirine bu kadar yakın olması, verilerin son derece dengeli dağıldığını ve sonuçların güvenilir olduğunu kanıtlamaktadır.</a:t>
            </a:r>
          </a:p>
          <a:p>
            <a:pPr algn="l" marL="0" indent="0" lvl="0">
              <a:lnSpc>
                <a:spcPts val="3360"/>
              </a:lnSpc>
            </a:pPr>
          </a:p>
        </p:txBody>
      </p:sp>
      <p:sp>
        <p:nvSpPr>
          <p:cNvPr name="TextBox 11" id="11"/>
          <p:cNvSpPr txBox="true"/>
          <p:nvPr/>
        </p:nvSpPr>
        <p:spPr>
          <a:xfrm rot="0">
            <a:off x="5918067" y="2774288"/>
            <a:ext cx="6886575" cy="523875"/>
          </a:xfrm>
          <a:prstGeom prst="rect">
            <a:avLst/>
          </a:prstGeom>
        </p:spPr>
        <p:txBody>
          <a:bodyPr anchor="t" rtlCol="false" tIns="0" lIns="0" bIns="0" rIns="0">
            <a:spAutoFit/>
          </a:bodyPr>
          <a:lstStyle/>
          <a:p>
            <a:pPr algn="l" marL="0" indent="0" lvl="0">
              <a:lnSpc>
                <a:spcPts val="4200"/>
              </a:lnSpc>
            </a:pPr>
            <a:r>
              <a:rPr lang="en-US" b="true" sz="3000">
                <a:solidFill>
                  <a:srgbClr val="494949"/>
                </a:solidFill>
                <a:latin typeface="Raleway Bold"/>
                <a:ea typeface="Raleway Bold"/>
                <a:cs typeface="Raleway Bold"/>
                <a:sym typeface="Raleway Bold"/>
              </a:rPr>
              <a:t>Temel İ</a:t>
            </a:r>
            <a:r>
              <a:rPr lang="en-US" b="true" sz="3000" strike="noStrike" u="none">
                <a:solidFill>
                  <a:srgbClr val="494949"/>
                </a:solidFill>
                <a:latin typeface="Raleway Bold"/>
                <a:ea typeface="Raleway Bold"/>
                <a:cs typeface="Raleway Bold"/>
                <a:sym typeface="Raleway Bold"/>
              </a:rPr>
              <a:t>s</a:t>
            </a:r>
            <a:r>
              <a:rPr lang="en-US" b="true" sz="3000" strike="noStrike" u="none">
                <a:solidFill>
                  <a:srgbClr val="494949"/>
                </a:solidFill>
                <a:latin typeface="Raleway Bold"/>
                <a:ea typeface="Raleway Bold"/>
                <a:cs typeface="Raleway Bold"/>
                <a:sym typeface="Raleway Bold"/>
              </a:rPr>
              <a:t>tatist</a:t>
            </a:r>
            <a:r>
              <a:rPr lang="en-US" b="true" sz="3000" strike="noStrike" u="none">
                <a:solidFill>
                  <a:srgbClr val="494949"/>
                </a:solidFill>
                <a:latin typeface="Raleway Bold"/>
                <a:ea typeface="Raleway Bold"/>
                <a:cs typeface="Raleway Bold"/>
                <a:sym typeface="Raleway Bold"/>
              </a:rPr>
              <a:t>ik</a:t>
            </a:r>
            <a:r>
              <a:rPr lang="en-US" b="true" sz="3000" strike="noStrike" u="none">
                <a:solidFill>
                  <a:srgbClr val="494949"/>
                </a:solidFill>
                <a:latin typeface="Raleway Bold"/>
                <a:ea typeface="Raleway Bold"/>
                <a:cs typeface="Raleway Bold"/>
                <a:sym typeface="Raleway Bold"/>
              </a:rPr>
              <a:t>l</a:t>
            </a:r>
            <a:r>
              <a:rPr lang="en-US" b="true" sz="3000" strike="noStrike" u="none">
                <a:solidFill>
                  <a:srgbClr val="494949"/>
                </a:solidFill>
                <a:latin typeface="Raleway Bold"/>
                <a:ea typeface="Raleway Bold"/>
                <a:cs typeface="Raleway Bold"/>
                <a:sym typeface="Raleway Bold"/>
              </a:rPr>
              <a:t>er</a:t>
            </a:r>
            <a:r>
              <a:rPr lang="en-US" b="true" sz="3000" strike="noStrike" u="none">
                <a:solidFill>
                  <a:srgbClr val="494949"/>
                </a:solidFill>
                <a:latin typeface="Raleway Bold"/>
                <a:ea typeface="Raleway Bold"/>
                <a:cs typeface="Raleway Bold"/>
                <a:sym typeface="Raleway Bold"/>
              </a:rPr>
              <a:t> (Basic Statistics)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431704" y="9610725"/>
            <a:ext cx="15624461" cy="0"/>
          </a:xfrm>
          <a:prstGeom prst="line">
            <a:avLst/>
          </a:prstGeom>
          <a:ln cap="flat" w="19050">
            <a:solidFill>
              <a:srgbClr val="EAE9E9"/>
            </a:solidFill>
            <a:prstDash val="solid"/>
            <a:headEnd type="none" len="sm" w="sm"/>
            <a:tailEnd type="none" len="sm" w="sm"/>
          </a:ln>
        </p:spPr>
      </p:sp>
      <p:sp>
        <p:nvSpPr>
          <p:cNvPr name="TextBox 3" id="3"/>
          <p:cNvSpPr txBox="true"/>
          <p:nvPr/>
        </p:nvSpPr>
        <p:spPr>
          <a:xfrm rot="0">
            <a:off x="6193265" y="1255998"/>
            <a:ext cx="5448300" cy="730250"/>
          </a:xfrm>
          <a:prstGeom prst="rect">
            <a:avLst/>
          </a:prstGeom>
        </p:spPr>
        <p:txBody>
          <a:bodyPr anchor="t" rtlCol="false" tIns="0" lIns="0" bIns="0" rIns="0">
            <a:spAutoFit/>
          </a:bodyPr>
          <a:lstStyle/>
          <a:p>
            <a:pPr algn="l" marL="0" indent="0" lvl="0">
              <a:lnSpc>
                <a:spcPts val="5500"/>
              </a:lnSpc>
            </a:pPr>
            <a:r>
              <a:rPr lang="en-US" b="true" sz="5000">
                <a:solidFill>
                  <a:srgbClr val="494949"/>
                </a:solidFill>
                <a:latin typeface="Raleway Bold"/>
                <a:ea typeface="Raleway Bold"/>
                <a:cs typeface="Raleway Bold"/>
                <a:sym typeface="Raleway Bold"/>
              </a:rPr>
              <a:t>Ver</a:t>
            </a:r>
            <a:r>
              <a:rPr lang="en-US" b="true" sz="5000">
                <a:solidFill>
                  <a:srgbClr val="494949"/>
                </a:solidFill>
                <a:latin typeface="Raleway Bold"/>
                <a:ea typeface="Raleway Bold"/>
                <a:cs typeface="Raleway Bold"/>
                <a:sym typeface="Raleway Bold"/>
              </a:rPr>
              <a:t>i Seti Kontrolü</a:t>
            </a:r>
          </a:p>
        </p:txBody>
      </p:sp>
      <p:sp>
        <p:nvSpPr>
          <p:cNvPr name="Freeform 4" id="4"/>
          <p:cNvSpPr/>
          <p:nvPr/>
        </p:nvSpPr>
        <p:spPr>
          <a:xfrm flipH="false" flipV="false" rot="0">
            <a:off x="671512" y="9387884"/>
            <a:ext cx="445682" cy="445682"/>
          </a:xfrm>
          <a:custGeom>
            <a:avLst/>
            <a:gdLst/>
            <a:ahLst/>
            <a:cxnLst/>
            <a:rect r="r" b="b" t="t" l="l"/>
            <a:pathLst>
              <a:path h="445682" w="445682">
                <a:moveTo>
                  <a:pt x="0" y="0"/>
                </a:moveTo>
                <a:lnTo>
                  <a:pt x="445683" y="0"/>
                </a:lnTo>
                <a:lnTo>
                  <a:pt x="445683" y="445682"/>
                </a:lnTo>
                <a:lnTo>
                  <a:pt x="0" y="4456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7359380" y="9412274"/>
            <a:ext cx="152400" cy="209550"/>
          </a:xfrm>
          <a:prstGeom prst="rect">
            <a:avLst/>
          </a:prstGeom>
        </p:spPr>
        <p:txBody>
          <a:bodyPr anchor="t" rtlCol="false" tIns="0" lIns="0" bIns="0" rIns="0" wrap="none">
            <a:spAutoFit/>
          </a:bodyPr>
          <a:lstStyle/>
          <a:p>
            <a:pPr algn="r">
              <a:lnSpc>
                <a:spcPts val="2800"/>
              </a:lnSpc>
              <a:spcBef>
                <a:spcPct val="0"/>
              </a:spcBef>
            </a:pPr>
            <a:r>
              <a:rPr lang="en-US" sz="2000">
                <a:solidFill>
                  <a:srgbClr val="494949"/>
                </a:solidFill>
                <a:latin typeface="Raleway"/>
                <a:ea typeface="Raleway"/>
                <a:cs typeface="Raleway"/>
                <a:sym typeface="Raleway"/>
              </a:rPr>
              <a:t>3</a:t>
            </a:r>
          </a:p>
        </p:txBody>
      </p:sp>
      <p:sp>
        <p:nvSpPr>
          <p:cNvPr name="TextBox 6" id="6"/>
          <p:cNvSpPr txBox="true"/>
          <p:nvPr/>
        </p:nvSpPr>
        <p:spPr>
          <a:xfrm rot="0">
            <a:off x="2750756" y="2577755"/>
            <a:ext cx="12786487" cy="2012658"/>
          </a:xfrm>
          <a:prstGeom prst="rect">
            <a:avLst/>
          </a:prstGeom>
        </p:spPr>
        <p:txBody>
          <a:bodyPr anchor="t" rtlCol="false" tIns="0" lIns="0" bIns="0" rIns="0">
            <a:spAutoFit/>
          </a:bodyPr>
          <a:lstStyle/>
          <a:p>
            <a:pPr algn="ctr">
              <a:lnSpc>
                <a:spcPts val="4041"/>
              </a:lnSpc>
            </a:pPr>
            <a:r>
              <a:rPr lang="en-US" sz="2886">
                <a:solidFill>
                  <a:srgbClr val="494949"/>
                </a:solidFill>
                <a:latin typeface="Raleway"/>
                <a:ea typeface="Raleway"/>
                <a:cs typeface="Raleway"/>
                <a:sym typeface="Raleway"/>
              </a:rPr>
              <a:t>T</a:t>
            </a:r>
            <a:r>
              <a:rPr lang="en-US" sz="2886">
                <a:solidFill>
                  <a:srgbClr val="494949"/>
                </a:solidFill>
                <a:latin typeface="Raleway"/>
                <a:ea typeface="Raleway"/>
                <a:cs typeface="Raleway"/>
                <a:sym typeface="Raleway"/>
              </a:rPr>
              <a:t>oplam Veri: 10 Farklı Akademik Çalışma.</a:t>
            </a:r>
          </a:p>
          <a:p>
            <a:pPr algn="ctr">
              <a:lnSpc>
                <a:spcPts val="4041"/>
              </a:lnSpc>
            </a:pPr>
            <a:r>
              <a:rPr lang="en-US" sz="2886">
                <a:solidFill>
                  <a:srgbClr val="494949"/>
                </a:solidFill>
                <a:latin typeface="Raleway"/>
                <a:ea typeface="Raleway"/>
                <a:cs typeface="Raleway"/>
                <a:sym typeface="Raleway"/>
              </a:rPr>
              <a:t>Eksik Veri Durumu:</a:t>
            </a:r>
            <a:r>
              <a:rPr lang="en-US" b="true" sz="2886">
                <a:solidFill>
                  <a:srgbClr val="494949"/>
                </a:solidFill>
                <a:latin typeface="Raleway Bold"/>
                <a:ea typeface="Raleway Bold"/>
                <a:cs typeface="Raleway Bold"/>
                <a:sym typeface="Raleway Bold"/>
              </a:rPr>
              <a:t> %0 </a:t>
            </a:r>
            <a:r>
              <a:rPr lang="en-US" sz="2886">
                <a:solidFill>
                  <a:srgbClr val="494949"/>
                </a:solidFill>
                <a:latin typeface="Raleway"/>
                <a:ea typeface="Raleway"/>
                <a:cs typeface="Raleway"/>
                <a:sym typeface="Raleway"/>
              </a:rPr>
              <a:t>(Yok)</a:t>
            </a:r>
          </a:p>
          <a:p>
            <a:pPr algn="ctr">
              <a:lnSpc>
                <a:spcPts val="4041"/>
              </a:lnSpc>
            </a:pPr>
            <a:r>
              <a:rPr lang="en-US" sz="2886">
                <a:solidFill>
                  <a:srgbClr val="494949"/>
                </a:solidFill>
                <a:latin typeface="Raleway"/>
                <a:ea typeface="Raleway"/>
                <a:cs typeface="Raleway"/>
                <a:sym typeface="Raleway"/>
              </a:rPr>
              <a:t>Veri Kalitesi: Tüm satırlar dolu ve analize tam uygundur.</a:t>
            </a:r>
          </a:p>
          <a:p>
            <a:pPr algn="ctr">
              <a:lnSpc>
                <a:spcPts val="4041"/>
              </a:lnSpc>
            </a:pPr>
          </a:p>
        </p:txBody>
      </p:sp>
      <p:sp>
        <p:nvSpPr>
          <p:cNvPr name="Freeform 7" id="7"/>
          <p:cNvSpPr/>
          <p:nvPr/>
        </p:nvSpPr>
        <p:spPr>
          <a:xfrm flipH="false" flipV="false" rot="0">
            <a:off x="168600" y="4590412"/>
            <a:ext cx="17950800" cy="4336252"/>
          </a:xfrm>
          <a:custGeom>
            <a:avLst/>
            <a:gdLst/>
            <a:ahLst/>
            <a:cxnLst/>
            <a:rect r="r" b="b" t="t" l="l"/>
            <a:pathLst>
              <a:path h="4336252" w="17950800">
                <a:moveTo>
                  <a:pt x="0" y="0"/>
                </a:moveTo>
                <a:lnTo>
                  <a:pt x="17950800" y="0"/>
                </a:lnTo>
                <a:lnTo>
                  <a:pt x="17950800" y="4336253"/>
                </a:lnTo>
                <a:lnTo>
                  <a:pt x="0" y="4336253"/>
                </a:lnTo>
                <a:lnTo>
                  <a:pt x="0" y="0"/>
                </a:lnTo>
                <a:close/>
              </a:path>
            </a:pathLst>
          </a:custGeom>
          <a:blipFill>
            <a:blip r:embed="rId4"/>
            <a:stretch>
              <a:fillRect l="0" t="0" r="-651"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431704" y="9610725"/>
            <a:ext cx="15624461" cy="0"/>
          </a:xfrm>
          <a:prstGeom prst="line">
            <a:avLst/>
          </a:prstGeom>
          <a:ln cap="flat" w="19050">
            <a:solidFill>
              <a:srgbClr val="EAE9E9"/>
            </a:solidFill>
            <a:prstDash val="solid"/>
            <a:headEnd type="none" len="sm" w="sm"/>
            <a:tailEnd type="none" len="sm" w="sm"/>
          </a:ln>
        </p:spPr>
      </p:sp>
      <p:sp>
        <p:nvSpPr>
          <p:cNvPr name="Freeform 3" id="3"/>
          <p:cNvSpPr/>
          <p:nvPr/>
        </p:nvSpPr>
        <p:spPr>
          <a:xfrm flipH="false" flipV="false" rot="0">
            <a:off x="671512" y="9387884"/>
            <a:ext cx="445682" cy="445682"/>
          </a:xfrm>
          <a:custGeom>
            <a:avLst/>
            <a:gdLst/>
            <a:ahLst/>
            <a:cxnLst/>
            <a:rect r="r" b="b" t="t" l="l"/>
            <a:pathLst>
              <a:path h="445682" w="445682">
                <a:moveTo>
                  <a:pt x="0" y="0"/>
                </a:moveTo>
                <a:lnTo>
                  <a:pt x="445683" y="0"/>
                </a:lnTo>
                <a:lnTo>
                  <a:pt x="445683" y="445682"/>
                </a:lnTo>
                <a:lnTo>
                  <a:pt x="0" y="4456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965840" y="2158165"/>
            <a:ext cx="7960894" cy="5970671"/>
          </a:xfrm>
          <a:custGeom>
            <a:avLst/>
            <a:gdLst/>
            <a:ahLst/>
            <a:cxnLst/>
            <a:rect r="r" b="b" t="t" l="l"/>
            <a:pathLst>
              <a:path h="5970671" w="7960894">
                <a:moveTo>
                  <a:pt x="0" y="0"/>
                </a:moveTo>
                <a:lnTo>
                  <a:pt x="7960894" y="0"/>
                </a:lnTo>
                <a:lnTo>
                  <a:pt x="7960894" y="5970670"/>
                </a:lnTo>
                <a:lnTo>
                  <a:pt x="0" y="5970670"/>
                </a:lnTo>
                <a:lnTo>
                  <a:pt x="0" y="0"/>
                </a:lnTo>
                <a:close/>
              </a:path>
            </a:pathLst>
          </a:custGeom>
          <a:blipFill>
            <a:blip r:embed="rId4"/>
            <a:stretch>
              <a:fillRect l="0" t="0" r="0" b="0"/>
            </a:stretch>
          </a:blipFill>
        </p:spPr>
      </p:sp>
      <p:sp>
        <p:nvSpPr>
          <p:cNvPr name="TextBox 5" id="5"/>
          <p:cNvSpPr txBox="true"/>
          <p:nvPr/>
        </p:nvSpPr>
        <p:spPr>
          <a:xfrm rot="0">
            <a:off x="17359380" y="9412274"/>
            <a:ext cx="152400" cy="209550"/>
          </a:xfrm>
          <a:prstGeom prst="rect">
            <a:avLst/>
          </a:prstGeom>
        </p:spPr>
        <p:txBody>
          <a:bodyPr anchor="t" rtlCol="false" tIns="0" lIns="0" bIns="0" rIns="0" wrap="none">
            <a:spAutoFit/>
          </a:bodyPr>
          <a:lstStyle/>
          <a:p>
            <a:pPr algn="r">
              <a:lnSpc>
                <a:spcPts val="2800"/>
              </a:lnSpc>
              <a:spcBef>
                <a:spcPct val="0"/>
              </a:spcBef>
            </a:pPr>
            <a:r>
              <a:rPr lang="en-US" sz="2000">
                <a:solidFill>
                  <a:srgbClr val="494949"/>
                </a:solidFill>
                <a:latin typeface="Raleway"/>
                <a:ea typeface="Raleway"/>
                <a:cs typeface="Raleway"/>
                <a:sym typeface="Raleway"/>
              </a:rPr>
              <a:t>4</a:t>
            </a:r>
          </a:p>
        </p:txBody>
      </p:sp>
      <p:grpSp>
        <p:nvGrpSpPr>
          <p:cNvPr name="Group 6" id="6"/>
          <p:cNvGrpSpPr/>
          <p:nvPr/>
        </p:nvGrpSpPr>
        <p:grpSpPr>
          <a:xfrm rot="0">
            <a:off x="666750" y="666750"/>
            <a:ext cx="8329612" cy="4277333"/>
            <a:chOff x="0" y="0"/>
            <a:chExt cx="11106150" cy="5703110"/>
          </a:xfrm>
        </p:grpSpPr>
        <p:sp>
          <p:nvSpPr>
            <p:cNvPr name="TextBox 7" id="7"/>
            <p:cNvSpPr txBox="true"/>
            <p:nvPr/>
          </p:nvSpPr>
          <p:spPr>
            <a:xfrm rot="0">
              <a:off x="0" y="-66675"/>
              <a:ext cx="11099800" cy="676275"/>
            </a:xfrm>
            <a:prstGeom prst="rect">
              <a:avLst/>
            </a:prstGeom>
          </p:spPr>
          <p:txBody>
            <a:bodyPr anchor="t" rtlCol="false" tIns="0" lIns="0" bIns="0" rIns="0">
              <a:spAutoFit/>
            </a:bodyPr>
            <a:lstStyle/>
            <a:p>
              <a:pPr algn="l" marL="0" indent="0" lvl="0">
                <a:lnSpc>
                  <a:spcPts val="4200"/>
                </a:lnSpc>
              </a:pPr>
            </a:p>
          </p:txBody>
        </p:sp>
        <p:sp>
          <p:nvSpPr>
            <p:cNvPr name="TextBox 8" id="8"/>
            <p:cNvSpPr txBox="true"/>
            <p:nvPr/>
          </p:nvSpPr>
          <p:spPr>
            <a:xfrm rot="0">
              <a:off x="6350" y="1752564"/>
              <a:ext cx="11099800" cy="1752600"/>
            </a:xfrm>
            <a:prstGeom prst="rect">
              <a:avLst/>
            </a:prstGeom>
          </p:spPr>
          <p:txBody>
            <a:bodyPr anchor="t" rtlCol="false" tIns="0" lIns="0" bIns="0" rIns="0">
              <a:spAutoFit/>
            </a:bodyPr>
            <a:lstStyle/>
            <a:p>
              <a:pPr algn="l" marL="0" indent="0" lvl="0">
                <a:lnSpc>
                  <a:spcPts val="9900"/>
                </a:lnSpc>
              </a:pPr>
            </a:p>
          </p:txBody>
        </p:sp>
        <p:sp>
          <p:nvSpPr>
            <p:cNvPr name="TextBox 9" id="9"/>
            <p:cNvSpPr txBox="true"/>
            <p:nvPr/>
          </p:nvSpPr>
          <p:spPr>
            <a:xfrm rot="0">
              <a:off x="6350" y="3514689"/>
              <a:ext cx="11099800" cy="676275"/>
            </a:xfrm>
            <a:prstGeom prst="rect">
              <a:avLst/>
            </a:prstGeom>
          </p:spPr>
          <p:txBody>
            <a:bodyPr anchor="t" rtlCol="false" tIns="0" lIns="0" bIns="0" rIns="0">
              <a:spAutoFit/>
            </a:bodyPr>
            <a:lstStyle/>
            <a:p>
              <a:pPr algn="l" marL="0" indent="0" lvl="0">
                <a:lnSpc>
                  <a:spcPts val="4200"/>
                </a:lnSpc>
              </a:pPr>
            </a:p>
          </p:txBody>
        </p:sp>
        <p:sp>
          <p:nvSpPr>
            <p:cNvPr name="TextBox 10" id="10"/>
            <p:cNvSpPr txBox="true"/>
            <p:nvPr/>
          </p:nvSpPr>
          <p:spPr>
            <a:xfrm rot="0">
              <a:off x="6350" y="5229189"/>
              <a:ext cx="11099800" cy="473922"/>
            </a:xfrm>
            <a:prstGeom prst="rect">
              <a:avLst/>
            </a:prstGeom>
          </p:spPr>
          <p:txBody>
            <a:bodyPr anchor="t" rtlCol="false" tIns="0" lIns="0" bIns="0" rIns="0">
              <a:spAutoFit/>
            </a:bodyPr>
            <a:lstStyle/>
            <a:p>
              <a:pPr algn="l" marL="0" indent="0" lvl="0">
                <a:lnSpc>
                  <a:spcPts val="2860"/>
                </a:lnSpc>
              </a:pPr>
            </a:p>
          </p:txBody>
        </p:sp>
      </p:grpSp>
      <p:sp>
        <p:nvSpPr>
          <p:cNvPr name="TextBox 11" id="11"/>
          <p:cNvSpPr txBox="true"/>
          <p:nvPr/>
        </p:nvSpPr>
        <p:spPr>
          <a:xfrm rot="0">
            <a:off x="246852" y="3337823"/>
            <a:ext cx="9169409" cy="3563728"/>
          </a:xfrm>
          <a:prstGeom prst="rect">
            <a:avLst/>
          </a:prstGeom>
        </p:spPr>
        <p:txBody>
          <a:bodyPr anchor="t" rtlCol="false" tIns="0" lIns="0" bIns="0" rIns="0">
            <a:spAutoFit/>
          </a:bodyPr>
          <a:lstStyle/>
          <a:p>
            <a:pPr algn="ctr" marL="0" indent="0" lvl="0">
              <a:lnSpc>
                <a:spcPts val="3599"/>
              </a:lnSpc>
            </a:pPr>
            <a:r>
              <a:rPr lang="en-US" sz="2570">
                <a:solidFill>
                  <a:srgbClr val="494949"/>
                </a:solidFill>
                <a:latin typeface="Raleway"/>
                <a:ea typeface="Raleway"/>
                <a:cs typeface="Raleway"/>
                <a:sym typeface="Raleway"/>
              </a:rPr>
              <a:t>Y</a:t>
            </a:r>
            <a:r>
              <a:rPr lang="en-US" sz="2570">
                <a:solidFill>
                  <a:srgbClr val="494949"/>
                </a:solidFill>
                <a:latin typeface="Raleway"/>
                <a:ea typeface="Raleway"/>
                <a:cs typeface="Raleway"/>
                <a:sym typeface="Raleway"/>
              </a:rPr>
              <a:t>aptığımız korelasyon analizinde, Yayın Yılı ile Etki Büyüklüğü arasında </a:t>
            </a:r>
            <a:r>
              <a:rPr lang="en-US" b="true" sz="2570">
                <a:solidFill>
                  <a:srgbClr val="494949"/>
                </a:solidFill>
                <a:latin typeface="Raleway Bold"/>
                <a:ea typeface="Raleway Bold"/>
                <a:cs typeface="Raleway Bold"/>
                <a:sym typeface="Raleway Bold"/>
              </a:rPr>
              <a:t>-0.33</a:t>
            </a:r>
            <a:r>
              <a:rPr lang="en-US" sz="2570">
                <a:solidFill>
                  <a:srgbClr val="494949"/>
                </a:solidFill>
                <a:latin typeface="Raleway"/>
                <a:ea typeface="Raleway"/>
                <a:cs typeface="Raleway"/>
                <a:sym typeface="Raleway"/>
              </a:rPr>
              <a:t> düzeyinde negatif bir ilişki gözlemledik. Bu durum, yıllar ilerledikçe elde edilen etki skorlarında hafif bir düşüş eğilimi olduğunu işaret ediyor. Bunun sebebi, güncel çalışmaların daha karmaşık ve soyut konuları ele alması veya ölçme standartlarının zorlaşması olarak yorumlanabilir.</a:t>
            </a:r>
          </a:p>
          <a:p>
            <a:pPr algn="ctr">
              <a:lnSpc>
                <a:spcPts val="3599"/>
              </a:lnSpc>
            </a:pPr>
          </a:p>
        </p:txBody>
      </p:sp>
      <p:sp>
        <p:nvSpPr>
          <p:cNvPr name="TextBox 12" id="12"/>
          <p:cNvSpPr txBox="true"/>
          <p:nvPr/>
        </p:nvSpPr>
        <p:spPr>
          <a:xfrm rot="0">
            <a:off x="3720051" y="2281541"/>
            <a:ext cx="6886575" cy="523875"/>
          </a:xfrm>
          <a:prstGeom prst="rect">
            <a:avLst/>
          </a:prstGeom>
        </p:spPr>
        <p:txBody>
          <a:bodyPr anchor="t" rtlCol="false" tIns="0" lIns="0" bIns="0" rIns="0">
            <a:spAutoFit/>
          </a:bodyPr>
          <a:lstStyle/>
          <a:p>
            <a:pPr algn="l" marL="0" indent="0" lvl="0">
              <a:lnSpc>
                <a:spcPts val="4200"/>
              </a:lnSpc>
            </a:pPr>
            <a:r>
              <a:rPr lang="en-US" b="true" sz="3000">
                <a:solidFill>
                  <a:srgbClr val="494949"/>
                </a:solidFill>
                <a:latin typeface="Raleway Bold"/>
                <a:ea typeface="Raleway Bold"/>
                <a:cs typeface="Raleway Bold"/>
                <a:sym typeface="Raleway Bold"/>
              </a:rPr>
              <a:t>Korel</a:t>
            </a:r>
            <a:r>
              <a:rPr lang="en-US" b="true" sz="3000" strike="noStrike" u="none">
                <a:solidFill>
                  <a:srgbClr val="494949"/>
                </a:solidFill>
                <a:latin typeface="Raleway Bold"/>
                <a:ea typeface="Raleway Bold"/>
                <a:cs typeface="Raleway Bold"/>
                <a:sym typeface="Raleway Bold"/>
              </a:rPr>
              <a:t>as</a:t>
            </a:r>
            <a:r>
              <a:rPr lang="en-US" b="true" sz="3000" strike="noStrike" u="none">
                <a:solidFill>
                  <a:srgbClr val="494949"/>
                </a:solidFill>
                <a:latin typeface="Raleway Bold"/>
                <a:ea typeface="Raleway Bold"/>
                <a:cs typeface="Raleway Bold"/>
                <a:sym typeface="Raleway Bold"/>
              </a:rPr>
              <a:t>yon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431704" y="9610725"/>
            <a:ext cx="15624461" cy="0"/>
          </a:xfrm>
          <a:prstGeom prst="line">
            <a:avLst/>
          </a:prstGeom>
          <a:ln cap="flat" w="19050">
            <a:solidFill>
              <a:srgbClr val="EAE9E9"/>
            </a:solidFill>
            <a:prstDash val="solid"/>
            <a:headEnd type="none" len="sm" w="sm"/>
            <a:tailEnd type="none" len="sm" w="sm"/>
          </a:ln>
        </p:spPr>
      </p:sp>
      <p:sp>
        <p:nvSpPr>
          <p:cNvPr name="Freeform 3" id="3"/>
          <p:cNvSpPr/>
          <p:nvPr/>
        </p:nvSpPr>
        <p:spPr>
          <a:xfrm flipH="false" flipV="false" rot="0">
            <a:off x="671512" y="9387884"/>
            <a:ext cx="445682" cy="445682"/>
          </a:xfrm>
          <a:custGeom>
            <a:avLst/>
            <a:gdLst/>
            <a:ahLst/>
            <a:cxnLst/>
            <a:rect r="r" b="b" t="t" l="l"/>
            <a:pathLst>
              <a:path h="445682" w="445682">
                <a:moveTo>
                  <a:pt x="0" y="0"/>
                </a:moveTo>
                <a:lnTo>
                  <a:pt x="445683" y="0"/>
                </a:lnTo>
                <a:lnTo>
                  <a:pt x="445683" y="445682"/>
                </a:lnTo>
                <a:lnTo>
                  <a:pt x="0" y="4456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398486" y="2158165"/>
            <a:ext cx="7960894" cy="5970671"/>
          </a:xfrm>
          <a:custGeom>
            <a:avLst/>
            <a:gdLst/>
            <a:ahLst/>
            <a:cxnLst/>
            <a:rect r="r" b="b" t="t" l="l"/>
            <a:pathLst>
              <a:path h="5970671" w="7960894">
                <a:moveTo>
                  <a:pt x="0" y="0"/>
                </a:moveTo>
                <a:lnTo>
                  <a:pt x="7960894" y="0"/>
                </a:lnTo>
                <a:lnTo>
                  <a:pt x="7960894" y="5970670"/>
                </a:lnTo>
                <a:lnTo>
                  <a:pt x="0" y="5970670"/>
                </a:lnTo>
                <a:lnTo>
                  <a:pt x="0" y="0"/>
                </a:lnTo>
                <a:close/>
              </a:path>
            </a:pathLst>
          </a:custGeom>
          <a:blipFill>
            <a:blip r:embed="rId4"/>
            <a:stretch>
              <a:fillRect l="0" t="0" r="0" b="0"/>
            </a:stretch>
          </a:blipFill>
        </p:spPr>
      </p:sp>
      <p:sp>
        <p:nvSpPr>
          <p:cNvPr name="TextBox 5" id="5"/>
          <p:cNvSpPr txBox="true"/>
          <p:nvPr/>
        </p:nvSpPr>
        <p:spPr>
          <a:xfrm rot="0">
            <a:off x="1896319" y="2401721"/>
            <a:ext cx="7502166" cy="730250"/>
          </a:xfrm>
          <a:prstGeom prst="rect">
            <a:avLst/>
          </a:prstGeom>
        </p:spPr>
        <p:txBody>
          <a:bodyPr anchor="t" rtlCol="false" tIns="0" lIns="0" bIns="0" rIns="0">
            <a:spAutoFit/>
          </a:bodyPr>
          <a:lstStyle/>
          <a:p>
            <a:pPr algn="l" marL="0" indent="0" lvl="0">
              <a:lnSpc>
                <a:spcPts val="5500"/>
              </a:lnSpc>
            </a:pPr>
            <a:r>
              <a:rPr lang="en-US" b="true" sz="5000">
                <a:solidFill>
                  <a:srgbClr val="494949"/>
                </a:solidFill>
                <a:latin typeface="Raleway Bold"/>
                <a:ea typeface="Raleway Bold"/>
                <a:cs typeface="Raleway Bold"/>
                <a:sym typeface="Raleway Bold"/>
              </a:rPr>
              <a:t>Histogram Dağılımı</a:t>
            </a:r>
          </a:p>
        </p:txBody>
      </p:sp>
      <p:sp>
        <p:nvSpPr>
          <p:cNvPr name="TextBox 6" id="6"/>
          <p:cNvSpPr txBox="true"/>
          <p:nvPr/>
        </p:nvSpPr>
        <p:spPr>
          <a:xfrm rot="0">
            <a:off x="17359380" y="9412274"/>
            <a:ext cx="152400" cy="209550"/>
          </a:xfrm>
          <a:prstGeom prst="rect">
            <a:avLst/>
          </a:prstGeom>
        </p:spPr>
        <p:txBody>
          <a:bodyPr anchor="t" rtlCol="false" tIns="0" lIns="0" bIns="0" rIns="0" wrap="none">
            <a:spAutoFit/>
          </a:bodyPr>
          <a:lstStyle/>
          <a:p>
            <a:pPr algn="r">
              <a:lnSpc>
                <a:spcPts val="2800"/>
              </a:lnSpc>
              <a:spcBef>
                <a:spcPct val="0"/>
              </a:spcBef>
            </a:pPr>
            <a:r>
              <a:rPr lang="en-US" sz="2000">
                <a:solidFill>
                  <a:srgbClr val="494949"/>
                </a:solidFill>
                <a:latin typeface="Raleway"/>
                <a:ea typeface="Raleway"/>
                <a:cs typeface="Raleway"/>
                <a:sym typeface="Raleway"/>
              </a:rPr>
              <a:t>5</a:t>
            </a:r>
          </a:p>
        </p:txBody>
      </p:sp>
      <p:sp>
        <p:nvSpPr>
          <p:cNvPr name="TextBox 7" id="7"/>
          <p:cNvSpPr txBox="true"/>
          <p:nvPr/>
        </p:nvSpPr>
        <p:spPr>
          <a:xfrm rot="0">
            <a:off x="525250" y="3739741"/>
            <a:ext cx="8472488" cy="3848386"/>
          </a:xfrm>
          <a:prstGeom prst="rect">
            <a:avLst/>
          </a:prstGeom>
        </p:spPr>
        <p:txBody>
          <a:bodyPr anchor="t" rtlCol="false" tIns="0" lIns="0" bIns="0" rIns="0">
            <a:spAutoFit/>
          </a:bodyPr>
          <a:lstStyle/>
          <a:p>
            <a:pPr algn="ctr" marL="0" indent="0" lvl="0">
              <a:lnSpc>
                <a:spcPts val="3870"/>
              </a:lnSpc>
            </a:pPr>
            <a:r>
              <a:rPr lang="en-US" sz="2764">
                <a:solidFill>
                  <a:srgbClr val="494949"/>
                </a:solidFill>
                <a:latin typeface="Raleway"/>
                <a:ea typeface="Raleway"/>
                <a:cs typeface="Raleway"/>
                <a:sym typeface="Raleway"/>
              </a:rPr>
              <a:t>His</a:t>
            </a:r>
            <a:r>
              <a:rPr lang="en-US" sz="2764">
                <a:solidFill>
                  <a:srgbClr val="494949"/>
                </a:solidFill>
                <a:latin typeface="Raleway"/>
                <a:ea typeface="Raleway"/>
                <a:cs typeface="Raleway"/>
                <a:sym typeface="Raleway"/>
              </a:rPr>
              <a:t>togram analizimiz, çalışmaların büyük çoğunluğunun </a:t>
            </a:r>
            <a:r>
              <a:rPr lang="en-US" b="true" sz="2764">
                <a:solidFill>
                  <a:srgbClr val="494949"/>
                </a:solidFill>
                <a:latin typeface="Raleway Bold"/>
                <a:ea typeface="Raleway Bold"/>
                <a:cs typeface="Raleway Bold"/>
                <a:sym typeface="Raleway Bold"/>
              </a:rPr>
              <a:t>0.70</a:t>
            </a:r>
            <a:r>
              <a:rPr lang="en-US" sz="2764">
                <a:solidFill>
                  <a:srgbClr val="494949"/>
                </a:solidFill>
                <a:latin typeface="Raleway"/>
                <a:ea typeface="Raleway"/>
                <a:cs typeface="Raleway"/>
                <a:sym typeface="Raleway"/>
              </a:rPr>
              <a:t> ile </a:t>
            </a:r>
            <a:r>
              <a:rPr lang="en-US" b="true" sz="2764">
                <a:solidFill>
                  <a:srgbClr val="494949"/>
                </a:solidFill>
                <a:latin typeface="Raleway Bold"/>
                <a:ea typeface="Raleway Bold"/>
                <a:cs typeface="Raleway Bold"/>
                <a:sym typeface="Raleway Bold"/>
              </a:rPr>
              <a:t>0.80</a:t>
            </a:r>
            <a:r>
              <a:rPr lang="en-US" sz="2764">
                <a:solidFill>
                  <a:srgbClr val="494949"/>
                </a:solidFill>
                <a:latin typeface="Raleway"/>
                <a:ea typeface="Raleway"/>
                <a:cs typeface="Raleway"/>
                <a:sym typeface="Raleway"/>
              </a:rPr>
              <a:t> aralığında toplandığını göstermektedir. Verilerin "Yüksek Başarı" bölgesinde yığılması tesadüf değildir; bu durum simülasyon destekli eğitimin istisnalar dışında genel olarak standart öğretimden daha başarılı sonuçlar verdiğini istatistiksel olarak kanıtlamaktadır.</a:t>
            </a:r>
          </a:p>
          <a:p>
            <a:pPr algn="ctr">
              <a:lnSpc>
                <a:spcPts val="387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431704" y="9610725"/>
            <a:ext cx="15624461" cy="0"/>
          </a:xfrm>
          <a:prstGeom prst="line">
            <a:avLst/>
          </a:prstGeom>
          <a:ln cap="flat" w="19050">
            <a:solidFill>
              <a:srgbClr val="EAE9E9"/>
            </a:solidFill>
            <a:prstDash val="solid"/>
            <a:headEnd type="none" len="sm" w="sm"/>
            <a:tailEnd type="none" len="sm" w="sm"/>
          </a:ln>
        </p:spPr>
      </p:sp>
      <p:sp>
        <p:nvSpPr>
          <p:cNvPr name="Freeform 3" id="3"/>
          <p:cNvSpPr/>
          <p:nvPr/>
        </p:nvSpPr>
        <p:spPr>
          <a:xfrm flipH="false" flipV="false" rot="0">
            <a:off x="671512" y="9387884"/>
            <a:ext cx="445682" cy="445682"/>
          </a:xfrm>
          <a:custGeom>
            <a:avLst/>
            <a:gdLst/>
            <a:ahLst/>
            <a:cxnLst/>
            <a:rect r="r" b="b" t="t" l="l"/>
            <a:pathLst>
              <a:path h="445682" w="445682">
                <a:moveTo>
                  <a:pt x="0" y="0"/>
                </a:moveTo>
                <a:lnTo>
                  <a:pt x="445683" y="0"/>
                </a:lnTo>
                <a:lnTo>
                  <a:pt x="445683" y="445682"/>
                </a:lnTo>
                <a:lnTo>
                  <a:pt x="0" y="4456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475102" y="2158165"/>
            <a:ext cx="7960894" cy="5970671"/>
          </a:xfrm>
          <a:custGeom>
            <a:avLst/>
            <a:gdLst/>
            <a:ahLst/>
            <a:cxnLst/>
            <a:rect r="r" b="b" t="t" l="l"/>
            <a:pathLst>
              <a:path h="5970671" w="7960894">
                <a:moveTo>
                  <a:pt x="0" y="0"/>
                </a:moveTo>
                <a:lnTo>
                  <a:pt x="7960895" y="0"/>
                </a:lnTo>
                <a:lnTo>
                  <a:pt x="7960895" y="5970670"/>
                </a:lnTo>
                <a:lnTo>
                  <a:pt x="0" y="5970670"/>
                </a:lnTo>
                <a:lnTo>
                  <a:pt x="0" y="0"/>
                </a:lnTo>
                <a:close/>
              </a:path>
            </a:pathLst>
          </a:custGeom>
          <a:blipFill>
            <a:blip r:embed="rId4"/>
            <a:stretch>
              <a:fillRect l="0" t="0" r="0" b="0"/>
            </a:stretch>
          </a:blipFill>
        </p:spPr>
      </p:sp>
      <p:sp>
        <p:nvSpPr>
          <p:cNvPr name="TextBox 5" id="5"/>
          <p:cNvSpPr txBox="true"/>
          <p:nvPr/>
        </p:nvSpPr>
        <p:spPr>
          <a:xfrm rot="0">
            <a:off x="187418" y="1697052"/>
            <a:ext cx="9231819" cy="1376045"/>
          </a:xfrm>
          <a:prstGeom prst="rect">
            <a:avLst/>
          </a:prstGeom>
        </p:spPr>
        <p:txBody>
          <a:bodyPr anchor="t" rtlCol="false" tIns="0" lIns="0" bIns="0" rIns="0">
            <a:spAutoFit/>
          </a:bodyPr>
          <a:lstStyle/>
          <a:p>
            <a:pPr algn="l">
              <a:lnSpc>
                <a:spcPts val="5500"/>
              </a:lnSpc>
            </a:pPr>
          </a:p>
          <a:p>
            <a:pPr algn="l" marL="0" indent="0" lvl="0">
              <a:lnSpc>
                <a:spcPts val="5170"/>
              </a:lnSpc>
            </a:pPr>
            <a:r>
              <a:rPr lang="en-US" b="true" sz="4700">
                <a:solidFill>
                  <a:srgbClr val="494949"/>
                </a:solidFill>
                <a:latin typeface="Raleway Bold"/>
                <a:ea typeface="Raleway Bold"/>
                <a:cs typeface="Raleway Bold"/>
                <a:sym typeface="Raleway Bold"/>
              </a:rPr>
              <a:t>Scatter Plot (Yıllara Göre Analiz)</a:t>
            </a:r>
          </a:p>
        </p:txBody>
      </p:sp>
      <p:sp>
        <p:nvSpPr>
          <p:cNvPr name="TextBox 6" id="6"/>
          <p:cNvSpPr txBox="true"/>
          <p:nvPr/>
        </p:nvSpPr>
        <p:spPr>
          <a:xfrm rot="0">
            <a:off x="17359380" y="9412274"/>
            <a:ext cx="152400" cy="209550"/>
          </a:xfrm>
          <a:prstGeom prst="rect">
            <a:avLst/>
          </a:prstGeom>
        </p:spPr>
        <p:txBody>
          <a:bodyPr anchor="t" rtlCol="false" tIns="0" lIns="0" bIns="0" rIns="0" wrap="none">
            <a:spAutoFit/>
          </a:bodyPr>
          <a:lstStyle/>
          <a:p>
            <a:pPr algn="r">
              <a:lnSpc>
                <a:spcPts val="2800"/>
              </a:lnSpc>
              <a:spcBef>
                <a:spcPct val="0"/>
              </a:spcBef>
            </a:pPr>
            <a:r>
              <a:rPr lang="en-US" sz="2000">
                <a:solidFill>
                  <a:srgbClr val="494949"/>
                </a:solidFill>
                <a:latin typeface="Raleway"/>
                <a:ea typeface="Raleway"/>
                <a:cs typeface="Raleway"/>
                <a:sym typeface="Raleway"/>
              </a:rPr>
              <a:t>6</a:t>
            </a:r>
          </a:p>
        </p:txBody>
      </p:sp>
      <p:sp>
        <p:nvSpPr>
          <p:cNvPr name="TextBox 7" id="7"/>
          <p:cNvSpPr txBox="true"/>
          <p:nvPr/>
        </p:nvSpPr>
        <p:spPr>
          <a:xfrm rot="0">
            <a:off x="434658" y="3712345"/>
            <a:ext cx="8246834" cy="3269472"/>
          </a:xfrm>
          <a:prstGeom prst="rect">
            <a:avLst/>
          </a:prstGeom>
        </p:spPr>
        <p:txBody>
          <a:bodyPr anchor="t" rtlCol="false" tIns="0" lIns="0" bIns="0" rIns="0">
            <a:spAutoFit/>
          </a:bodyPr>
          <a:lstStyle/>
          <a:p>
            <a:pPr algn="ctr" marL="0" indent="0" lvl="0">
              <a:lnSpc>
                <a:spcPts val="3767"/>
              </a:lnSpc>
            </a:pPr>
            <a:r>
              <a:rPr lang="en-US" sz="2691">
                <a:solidFill>
                  <a:srgbClr val="494949"/>
                </a:solidFill>
                <a:latin typeface="Raleway"/>
                <a:ea typeface="Raleway"/>
                <a:cs typeface="Raleway"/>
                <a:sym typeface="Raleway"/>
              </a:rPr>
              <a:t>Z</a:t>
            </a:r>
            <a:r>
              <a:rPr lang="en-US" sz="2691">
                <a:solidFill>
                  <a:srgbClr val="494949"/>
                </a:solidFill>
                <a:latin typeface="Raleway"/>
                <a:ea typeface="Raleway"/>
                <a:cs typeface="Raleway"/>
                <a:sym typeface="Raleway"/>
              </a:rPr>
              <a:t>aman ve Performans İlişkisi Yıllara göre dağılıma baktığımızda, en yüksek etki puanlarının 2</a:t>
            </a:r>
            <a:r>
              <a:rPr lang="en-US" sz="2691">
                <a:solidFill>
                  <a:srgbClr val="494949"/>
                </a:solidFill>
                <a:latin typeface="Raleway"/>
                <a:ea typeface="Raleway"/>
                <a:cs typeface="Raleway"/>
                <a:sym typeface="Raleway"/>
              </a:rPr>
              <a:t>0</a:t>
            </a:r>
            <a:r>
              <a:rPr lang="en-US" sz="2691">
                <a:solidFill>
                  <a:srgbClr val="494949"/>
                </a:solidFill>
                <a:latin typeface="Raleway"/>
                <a:ea typeface="Raleway"/>
                <a:cs typeface="Raleway"/>
                <a:sym typeface="Raleway"/>
              </a:rPr>
              <a:t>22 yılındaki çalışmalarda zirve yaptığını görüyoruz. Bu dönemdeki çalışmaların başarısı oldukça yüksektir. Ancak 2025'e doğru gidildikçe verilerde görülen hafif düşüş, simülasyon konularının karmaşıklaşması veya deneysel zorlukların artmasıyla açıklanabilir.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431704" y="9610725"/>
            <a:ext cx="15624461" cy="0"/>
          </a:xfrm>
          <a:prstGeom prst="line">
            <a:avLst/>
          </a:prstGeom>
          <a:ln cap="flat" w="19050">
            <a:solidFill>
              <a:srgbClr val="EAE9E9"/>
            </a:solidFill>
            <a:prstDash val="solid"/>
            <a:headEnd type="none" len="sm" w="sm"/>
            <a:tailEnd type="none" len="sm" w="sm"/>
          </a:ln>
        </p:spPr>
      </p:sp>
      <p:sp>
        <p:nvSpPr>
          <p:cNvPr name="Freeform 3" id="3"/>
          <p:cNvSpPr/>
          <p:nvPr/>
        </p:nvSpPr>
        <p:spPr>
          <a:xfrm flipH="false" flipV="false" rot="0">
            <a:off x="671512" y="9387884"/>
            <a:ext cx="445682" cy="445682"/>
          </a:xfrm>
          <a:custGeom>
            <a:avLst/>
            <a:gdLst/>
            <a:ahLst/>
            <a:cxnLst/>
            <a:rect r="r" b="b" t="t" l="l"/>
            <a:pathLst>
              <a:path h="445682" w="445682">
                <a:moveTo>
                  <a:pt x="0" y="0"/>
                </a:moveTo>
                <a:lnTo>
                  <a:pt x="445683" y="0"/>
                </a:lnTo>
                <a:lnTo>
                  <a:pt x="445683" y="445682"/>
                </a:lnTo>
                <a:lnTo>
                  <a:pt x="0" y="4456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095270" y="2158165"/>
            <a:ext cx="7960894" cy="6092556"/>
          </a:xfrm>
          <a:custGeom>
            <a:avLst/>
            <a:gdLst/>
            <a:ahLst/>
            <a:cxnLst/>
            <a:rect r="r" b="b" t="t" l="l"/>
            <a:pathLst>
              <a:path h="6092556" w="7960894">
                <a:moveTo>
                  <a:pt x="0" y="0"/>
                </a:moveTo>
                <a:lnTo>
                  <a:pt x="7960894" y="0"/>
                </a:lnTo>
                <a:lnTo>
                  <a:pt x="7960894" y="6092556"/>
                </a:lnTo>
                <a:lnTo>
                  <a:pt x="0" y="6092556"/>
                </a:lnTo>
                <a:lnTo>
                  <a:pt x="0" y="0"/>
                </a:lnTo>
                <a:close/>
              </a:path>
            </a:pathLst>
          </a:custGeom>
          <a:blipFill>
            <a:blip r:embed="rId4"/>
            <a:stretch>
              <a:fillRect l="-1020" t="0" r="-1020" b="0"/>
            </a:stretch>
          </a:blipFill>
        </p:spPr>
      </p:sp>
      <p:sp>
        <p:nvSpPr>
          <p:cNvPr name="TextBox 5" id="5"/>
          <p:cNvSpPr txBox="true"/>
          <p:nvPr/>
        </p:nvSpPr>
        <p:spPr>
          <a:xfrm rot="0">
            <a:off x="505374" y="2349261"/>
            <a:ext cx="8324797" cy="730250"/>
          </a:xfrm>
          <a:prstGeom prst="rect">
            <a:avLst/>
          </a:prstGeom>
        </p:spPr>
        <p:txBody>
          <a:bodyPr anchor="t" rtlCol="false" tIns="0" lIns="0" bIns="0" rIns="0">
            <a:spAutoFit/>
          </a:bodyPr>
          <a:lstStyle/>
          <a:p>
            <a:pPr algn="l" marL="0" indent="0" lvl="0">
              <a:lnSpc>
                <a:spcPts val="5500"/>
              </a:lnSpc>
            </a:pPr>
            <a:r>
              <a:rPr lang="en-US" b="true" sz="5000">
                <a:solidFill>
                  <a:srgbClr val="494949"/>
                </a:solidFill>
                <a:latin typeface="Raleway Bold"/>
                <a:ea typeface="Raleway Bold"/>
                <a:cs typeface="Raleway Bold"/>
                <a:sym typeface="Raleway Bold"/>
              </a:rPr>
              <a:t>Boxplot (Çalışma Alanları)</a:t>
            </a:r>
          </a:p>
        </p:txBody>
      </p:sp>
      <p:sp>
        <p:nvSpPr>
          <p:cNvPr name="TextBox 6" id="6"/>
          <p:cNvSpPr txBox="true"/>
          <p:nvPr/>
        </p:nvSpPr>
        <p:spPr>
          <a:xfrm rot="0">
            <a:off x="17359380" y="9412274"/>
            <a:ext cx="152400" cy="209550"/>
          </a:xfrm>
          <a:prstGeom prst="rect">
            <a:avLst/>
          </a:prstGeom>
        </p:spPr>
        <p:txBody>
          <a:bodyPr anchor="t" rtlCol="false" tIns="0" lIns="0" bIns="0" rIns="0" wrap="none">
            <a:spAutoFit/>
          </a:bodyPr>
          <a:lstStyle/>
          <a:p>
            <a:pPr algn="r">
              <a:lnSpc>
                <a:spcPts val="2800"/>
              </a:lnSpc>
              <a:spcBef>
                <a:spcPct val="0"/>
              </a:spcBef>
            </a:pPr>
            <a:r>
              <a:rPr lang="en-US" sz="2000">
                <a:solidFill>
                  <a:srgbClr val="494949"/>
                </a:solidFill>
                <a:latin typeface="Raleway"/>
                <a:ea typeface="Raleway"/>
                <a:cs typeface="Raleway"/>
                <a:sym typeface="Raleway"/>
              </a:rPr>
              <a:t>7</a:t>
            </a:r>
          </a:p>
        </p:txBody>
      </p:sp>
      <p:sp>
        <p:nvSpPr>
          <p:cNvPr name="TextBox 7" id="7"/>
          <p:cNvSpPr txBox="true"/>
          <p:nvPr/>
        </p:nvSpPr>
        <p:spPr>
          <a:xfrm rot="0">
            <a:off x="505374" y="3639214"/>
            <a:ext cx="8246834" cy="3269472"/>
          </a:xfrm>
          <a:prstGeom prst="rect">
            <a:avLst/>
          </a:prstGeom>
        </p:spPr>
        <p:txBody>
          <a:bodyPr anchor="t" rtlCol="false" tIns="0" lIns="0" bIns="0" rIns="0">
            <a:spAutoFit/>
          </a:bodyPr>
          <a:lstStyle/>
          <a:p>
            <a:pPr algn="ctr" marL="0" indent="0" lvl="0">
              <a:lnSpc>
                <a:spcPts val="3767"/>
              </a:lnSpc>
            </a:pPr>
            <a:r>
              <a:rPr lang="en-US" sz="2691">
                <a:solidFill>
                  <a:srgbClr val="494949"/>
                </a:solidFill>
                <a:latin typeface="Raleway"/>
                <a:ea typeface="Raleway"/>
                <a:cs typeface="Raleway"/>
                <a:sym typeface="Raleway"/>
              </a:rPr>
              <a:t>Al</a:t>
            </a:r>
            <a:r>
              <a:rPr lang="en-US" sz="2691">
                <a:solidFill>
                  <a:srgbClr val="494949"/>
                </a:solidFill>
                <a:latin typeface="Raleway"/>
                <a:ea typeface="Raleway"/>
                <a:cs typeface="Raleway"/>
                <a:sym typeface="Raleway"/>
              </a:rPr>
              <a:t>an Bazlı Tutarlılık: Tıp Eğitimi Çalışma alanlarını kıyasladığımızda, Tıp Eğitimi dikkat çekici bir istikrar sergiliyor. Grafikteki dağılım aralığının dar olması, tıp alanındaki simülasyon standartlarının artık oturduğunu ve uygulanan yöntemlerin sürpriz sonuçlar vermeden, tutarlı bir şekilde yüksek başarı sağladığını göstermektedir.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431704" y="9610725"/>
            <a:ext cx="15624461" cy="0"/>
          </a:xfrm>
          <a:prstGeom prst="line">
            <a:avLst/>
          </a:prstGeom>
          <a:ln cap="flat" w="19050">
            <a:solidFill>
              <a:srgbClr val="EAE9E9"/>
            </a:solidFill>
            <a:prstDash val="solid"/>
            <a:headEnd type="none" len="sm" w="sm"/>
            <a:tailEnd type="none" len="sm" w="sm"/>
          </a:ln>
        </p:spPr>
      </p:sp>
      <p:sp>
        <p:nvSpPr>
          <p:cNvPr name="Freeform 3" id="3"/>
          <p:cNvSpPr/>
          <p:nvPr/>
        </p:nvSpPr>
        <p:spPr>
          <a:xfrm flipH="false" flipV="false" rot="0">
            <a:off x="671512" y="9387884"/>
            <a:ext cx="445682" cy="445682"/>
          </a:xfrm>
          <a:custGeom>
            <a:avLst/>
            <a:gdLst/>
            <a:ahLst/>
            <a:cxnLst/>
            <a:rect r="r" b="b" t="t" l="l"/>
            <a:pathLst>
              <a:path h="445682" w="445682">
                <a:moveTo>
                  <a:pt x="0" y="0"/>
                </a:moveTo>
                <a:lnTo>
                  <a:pt x="445683" y="0"/>
                </a:lnTo>
                <a:lnTo>
                  <a:pt x="445683" y="445682"/>
                </a:lnTo>
                <a:lnTo>
                  <a:pt x="0" y="4456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57102" y="2418194"/>
            <a:ext cx="9506976" cy="5874825"/>
          </a:xfrm>
          <a:custGeom>
            <a:avLst/>
            <a:gdLst/>
            <a:ahLst/>
            <a:cxnLst/>
            <a:rect r="r" b="b" t="t" l="l"/>
            <a:pathLst>
              <a:path h="5874825" w="9506976">
                <a:moveTo>
                  <a:pt x="0" y="0"/>
                </a:moveTo>
                <a:lnTo>
                  <a:pt x="9506976" y="0"/>
                </a:lnTo>
                <a:lnTo>
                  <a:pt x="9506976" y="5874825"/>
                </a:lnTo>
                <a:lnTo>
                  <a:pt x="0" y="5874825"/>
                </a:lnTo>
                <a:lnTo>
                  <a:pt x="0" y="0"/>
                </a:lnTo>
                <a:close/>
              </a:path>
            </a:pathLst>
          </a:custGeom>
          <a:blipFill>
            <a:blip r:embed="rId4"/>
            <a:stretch>
              <a:fillRect l="-1495" t="0" r="-1495" b="0"/>
            </a:stretch>
          </a:blipFill>
        </p:spPr>
      </p:sp>
      <p:sp>
        <p:nvSpPr>
          <p:cNvPr name="TextBox 5" id="5"/>
          <p:cNvSpPr txBox="true"/>
          <p:nvPr/>
        </p:nvSpPr>
        <p:spPr>
          <a:xfrm rot="0">
            <a:off x="17485613" y="9402749"/>
            <a:ext cx="152400" cy="209550"/>
          </a:xfrm>
          <a:prstGeom prst="rect">
            <a:avLst/>
          </a:prstGeom>
        </p:spPr>
        <p:txBody>
          <a:bodyPr anchor="t" rtlCol="false" tIns="0" lIns="0" bIns="0" rIns="0" wrap="none">
            <a:spAutoFit/>
          </a:bodyPr>
          <a:lstStyle/>
          <a:p>
            <a:pPr algn="r">
              <a:lnSpc>
                <a:spcPts val="2800"/>
              </a:lnSpc>
              <a:spcBef>
                <a:spcPct val="0"/>
              </a:spcBef>
            </a:pPr>
            <a:r>
              <a:rPr lang="en-US" sz="2000">
                <a:solidFill>
                  <a:srgbClr val="494949"/>
                </a:solidFill>
                <a:latin typeface="Raleway"/>
                <a:ea typeface="Raleway"/>
                <a:cs typeface="Raleway"/>
                <a:sym typeface="Raleway"/>
              </a:rPr>
              <a:t>8</a:t>
            </a:r>
          </a:p>
        </p:txBody>
      </p:sp>
      <p:sp>
        <p:nvSpPr>
          <p:cNvPr name="TextBox 6" id="6"/>
          <p:cNvSpPr txBox="true"/>
          <p:nvPr/>
        </p:nvSpPr>
        <p:spPr>
          <a:xfrm rot="0">
            <a:off x="10283365" y="2446769"/>
            <a:ext cx="8495946" cy="730250"/>
          </a:xfrm>
          <a:prstGeom prst="rect">
            <a:avLst/>
          </a:prstGeom>
        </p:spPr>
        <p:txBody>
          <a:bodyPr anchor="t" rtlCol="false" tIns="0" lIns="0" bIns="0" rIns="0">
            <a:spAutoFit/>
          </a:bodyPr>
          <a:lstStyle/>
          <a:p>
            <a:pPr algn="l" marL="0" indent="0" lvl="0">
              <a:lnSpc>
                <a:spcPts val="5500"/>
              </a:lnSpc>
            </a:pPr>
            <a:r>
              <a:rPr lang="en-US" b="true" sz="5000">
                <a:solidFill>
                  <a:srgbClr val="494949"/>
                </a:solidFill>
                <a:latin typeface="Raleway Bold"/>
                <a:ea typeface="Raleway Bold"/>
                <a:cs typeface="Raleway Bold"/>
                <a:sym typeface="Raleway Bold"/>
              </a:rPr>
              <a:t>Teknoloji Karşılaştırması</a:t>
            </a:r>
          </a:p>
        </p:txBody>
      </p:sp>
      <p:sp>
        <p:nvSpPr>
          <p:cNvPr name="TextBox 7" id="7"/>
          <p:cNvSpPr txBox="true"/>
          <p:nvPr/>
        </p:nvSpPr>
        <p:spPr>
          <a:xfrm rot="0">
            <a:off x="9764078" y="3480189"/>
            <a:ext cx="8246834" cy="3269472"/>
          </a:xfrm>
          <a:prstGeom prst="rect">
            <a:avLst/>
          </a:prstGeom>
        </p:spPr>
        <p:txBody>
          <a:bodyPr anchor="t" rtlCol="false" tIns="0" lIns="0" bIns="0" rIns="0">
            <a:spAutoFit/>
          </a:bodyPr>
          <a:lstStyle/>
          <a:p>
            <a:pPr algn="ctr" marL="0" indent="0" lvl="0">
              <a:lnSpc>
                <a:spcPts val="3767"/>
              </a:lnSpc>
            </a:pPr>
            <a:r>
              <a:rPr lang="en-US" sz="2691">
                <a:solidFill>
                  <a:srgbClr val="494949"/>
                </a:solidFill>
                <a:latin typeface="Raleway"/>
                <a:ea typeface="Raleway"/>
                <a:cs typeface="Raleway"/>
                <a:sym typeface="Raleway"/>
              </a:rPr>
              <a:t>K</a:t>
            </a:r>
            <a:r>
              <a:rPr lang="en-US" sz="2691">
                <a:solidFill>
                  <a:srgbClr val="494949"/>
                </a:solidFill>
                <a:latin typeface="Raleway"/>
                <a:ea typeface="Raleway"/>
                <a:cs typeface="Raleway"/>
                <a:sym typeface="Raleway"/>
              </a:rPr>
              <a:t>apsayıcı Teknolojilerin Farkı Simülasyon türleri arasında Fiziksel Simülatörler ve VR, etki büyüklüğü açısından açık ara öndedir. Öğrenciyi pasif bir izleyici olmaktan çıkarıp ortamın içine dahil eden bu "kapsayıcı" teknolojiler, basit ekran tabanlı yöntemlere kıyasla bilginin çok daha kalıcı olmasını sağlamaktadır.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431704" y="9610725"/>
            <a:ext cx="15624461" cy="0"/>
          </a:xfrm>
          <a:prstGeom prst="line">
            <a:avLst/>
          </a:prstGeom>
          <a:ln cap="flat" w="19050">
            <a:solidFill>
              <a:srgbClr val="EAE9E9"/>
            </a:solidFill>
            <a:prstDash val="solid"/>
            <a:headEnd type="none" len="sm" w="sm"/>
            <a:tailEnd type="none" len="sm" w="sm"/>
          </a:ln>
        </p:spPr>
      </p:sp>
      <p:sp>
        <p:nvSpPr>
          <p:cNvPr name="TextBox 3" id="3"/>
          <p:cNvSpPr txBox="true"/>
          <p:nvPr/>
        </p:nvSpPr>
        <p:spPr>
          <a:xfrm rot="0">
            <a:off x="17485613" y="9402749"/>
            <a:ext cx="152400" cy="209550"/>
          </a:xfrm>
          <a:prstGeom prst="rect">
            <a:avLst/>
          </a:prstGeom>
        </p:spPr>
        <p:txBody>
          <a:bodyPr anchor="t" rtlCol="false" tIns="0" lIns="0" bIns="0" rIns="0" wrap="none">
            <a:spAutoFit/>
          </a:bodyPr>
          <a:lstStyle/>
          <a:p>
            <a:pPr algn="r">
              <a:lnSpc>
                <a:spcPts val="2800"/>
              </a:lnSpc>
              <a:spcBef>
                <a:spcPct val="0"/>
              </a:spcBef>
            </a:pPr>
            <a:r>
              <a:rPr lang="en-US" sz="2000">
                <a:solidFill>
                  <a:srgbClr val="494949"/>
                </a:solidFill>
                <a:latin typeface="Raleway"/>
                <a:ea typeface="Raleway"/>
                <a:cs typeface="Raleway"/>
                <a:sym typeface="Raleway"/>
              </a:rPr>
              <a:t>9</a:t>
            </a:r>
          </a:p>
        </p:txBody>
      </p:sp>
      <p:sp>
        <p:nvSpPr>
          <p:cNvPr name="Freeform 4" id="4"/>
          <p:cNvSpPr/>
          <p:nvPr/>
        </p:nvSpPr>
        <p:spPr>
          <a:xfrm flipH="false" flipV="false" rot="0">
            <a:off x="671512" y="9387884"/>
            <a:ext cx="445682" cy="445682"/>
          </a:xfrm>
          <a:custGeom>
            <a:avLst/>
            <a:gdLst/>
            <a:ahLst/>
            <a:cxnLst/>
            <a:rect r="r" b="b" t="t" l="l"/>
            <a:pathLst>
              <a:path h="445682" w="445682">
                <a:moveTo>
                  <a:pt x="0" y="0"/>
                </a:moveTo>
                <a:lnTo>
                  <a:pt x="445683" y="0"/>
                </a:lnTo>
                <a:lnTo>
                  <a:pt x="445683" y="445682"/>
                </a:lnTo>
                <a:lnTo>
                  <a:pt x="0" y="4456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6596764" y="2251753"/>
            <a:ext cx="11153049" cy="730250"/>
          </a:xfrm>
          <a:prstGeom prst="rect">
            <a:avLst/>
          </a:prstGeom>
        </p:spPr>
        <p:txBody>
          <a:bodyPr anchor="t" rtlCol="false" tIns="0" lIns="0" bIns="0" rIns="0">
            <a:spAutoFit/>
          </a:bodyPr>
          <a:lstStyle/>
          <a:p>
            <a:pPr algn="l" marL="0" indent="0" lvl="0">
              <a:lnSpc>
                <a:spcPts val="5500"/>
              </a:lnSpc>
            </a:pPr>
            <a:r>
              <a:rPr lang="en-US" b="true" sz="5000">
                <a:solidFill>
                  <a:srgbClr val="494949"/>
                </a:solidFill>
                <a:latin typeface="Raleway Bold"/>
                <a:ea typeface="Raleway Bold"/>
                <a:cs typeface="Raleway Bold"/>
                <a:sym typeface="Raleway Bold"/>
              </a:rPr>
              <a:t>Genel Sonuç </a:t>
            </a:r>
          </a:p>
        </p:txBody>
      </p:sp>
      <p:sp>
        <p:nvSpPr>
          <p:cNvPr name="TextBox 6" id="6"/>
          <p:cNvSpPr txBox="true"/>
          <p:nvPr/>
        </p:nvSpPr>
        <p:spPr>
          <a:xfrm rot="0">
            <a:off x="5020583" y="3736723"/>
            <a:ext cx="8246834" cy="2846291"/>
          </a:xfrm>
          <a:prstGeom prst="rect">
            <a:avLst/>
          </a:prstGeom>
        </p:spPr>
        <p:txBody>
          <a:bodyPr anchor="t" rtlCol="false" tIns="0" lIns="0" bIns="0" rIns="0">
            <a:spAutoFit/>
          </a:bodyPr>
          <a:lstStyle/>
          <a:p>
            <a:pPr algn="just" marL="0" indent="0" lvl="0">
              <a:lnSpc>
                <a:spcPts val="3767"/>
              </a:lnSpc>
            </a:pPr>
            <a:r>
              <a:rPr lang="en-US" sz="2691">
                <a:solidFill>
                  <a:srgbClr val="494949"/>
                </a:solidFill>
                <a:latin typeface="Raleway"/>
                <a:ea typeface="Raleway"/>
                <a:cs typeface="Raleway"/>
                <a:sym typeface="Raleway"/>
              </a:rPr>
              <a:t>An</a:t>
            </a:r>
            <a:r>
              <a:rPr lang="en-US" sz="2691">
                <a:solidFill>
                  <a:srgbClr val="494949"/>
                </a:solidFill>
                <a:latin typeface="Raleway"/>
                <a:ea typeface="Raleway"/>
                <a:cs typeface="Raleway"/>
                <a:sym typeface="Raleway"/>
              </a:rPr>
              <a:t>aliz edilen 10 akademik çalışma sonucunda; simülasyon tabanlı eğitimlerin öğrenme çıktıları (başarı, kalıcılık, beceri) üzerinde orta-yüksek düzeyde (Ortalama d=0.66) olumlu etkisi olduğu saptanmıştır. Özellikle Tıp alanında ve Fiziksel/VR simülatörlerde bu etki en üst düzeye çıkmaktadır.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905375" y="4237124"/>
            <a:ext cx="8477250" cy="1149667"/>
          </a:xfrm>
          <a:prstGeom prst="rect">
            <a:avLst/>
          </a:prstGeom>
        </p:spPr>
        <p:txBody>
          <a:bodyPr anchor="t" rtlCol="false" tIns="0" lIns="0" bIns="0" rIns="0">
            <a:spAutoFit/>
          </a:bodyPr>
          <a:lstStyle/>
          <a:p>
            <a:pPr algn="l" marL="0" indent="0" lvl="0">
              <a:lnSpc>
                <a:spcPts val="8827"/>
              </a:lnSpc>
            </a:pPr>
            <a:r>
              <a:rPr lang="en-US" sz="8025">
                <a:solidFill>
                  <a:srgbClr val="494949"/>
                </a:solidFill>
                <a:latin typeface="Raleway"/>
                <a:ea typeface="Raleway"/>
                <a:cs typeface="Raleway"/>
                <a:sym typeface="Raleway"/>
              </a:rPr>
              <a:t>TEŞEKKÜRLER</a:t>
            </a:r>
          </a:p>
        </p:txBody>
      </p:sp>
      <p:grpSp>
        <p:nvGrpSpPr>
          <p:cNvPr name="Group 3" id="3"/>
          <p:cNvGrpSpPr/>
          <p:nvPr/>
        </p:nvGrpSpPr>
        <p:grpSpPr>
          <a:xfrm rot="0">
            <a:off x="666750" y="9174568"/>
            <a:ext cx="5484580" cy="445682"/>
            <a:chOff x="0" y="0"/>
            <a:chExt cx="7312773" cy="594243"/>
          </a:xfrm>
        </p:grpSpPr>
        <p:sp>
          <p:nvSpPr>
            <p:cNvPr name="TextBox 4" id="4"/>
            <p:cNvSpPr txBox="true"/>
            <p:nvPr/>
          </p:nvSpPr>
          <p:spPr>
            <a:xfrm rot="0">
              <a:off x="950031" y="56880"/>
              <a:ext cx="6362742" cy="490008"/>
            </a:xfrm>
            <a:prstGeom prst="rect">
              <a:avLst/>
            </a:prstGeom>
          </p:spPr>
          <p:txBody>
            <a:bodyPr anchor="t" rtlCol="false" tIns="0" lIns="0" bIns="0" rIns="0">
              <a:spAutoFit/>
            </a:bodyPr>
            <a:lstStyle/>
            <a:p>
              <a:pPr algn="l" marL="0" indent="0" lvl="0">
                <a:lnSpc>
                  <a:spcPts val="2750"/>
                </a:lnSpc>
              </a:pPr>
              <a:r>
                <a:rPr lang="en-US" sz="2500">
                  <a:solidFill>
                    <a:srgbClr val="494949"/>
                  </a:solidFill>
                  <a:latin typeface="Raleway"/>
                  <a:ea typeface="Raleway"/>
                  <a:cs typeface="Raleway"/>
                  <a:sym typeface="Raleway"/>
                </a:rPr>
                <a:t>Simülasyon Tabanlı Eğitim</a:t>
              </a:r>
            </a:p>
          </p:txBody>
        </p:sp>
        <p:sp>
          <p:nvSpPr>
            <p:cNvPr name="Freeform 5" id="5"/>
            <p:cNvSpPr/>
            <p:nvPr/>
          </p:nvSpPr>
          <p:spPr>
            <a:xfrm flipH="false" flipV="false" rot="0">
              <a:off x="0" y="0"/>
              <a:ext cx="594243" cy="594243"/>
            </a:xfrm>
            <a:custGeom>
              <a:avLst/>
              <a:gdLst/>
              <a:ahLst/>
              <a:cxnLst/>
              <a:rect r="r" b="b" t="t" l="l"/>
              <a:pathLst>
                <a:path h="594243" w="594243">
                  <a:moveTo>
                    <a:pt x="0" y="0"/>
                  </a:moveTo>
                  <a:lnTo>
                    <a:pt x="594243" y="0"/>
                  </a:lnTo>
                  <a:lnTo>
                    <a:pt x="594243" y="594243"/>
                  </a:lnTo>
                  <a:lnTo>
                    <a:pt x="0" y="5942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Sunum - Simülasyon Tabanlı Eğitimlerin Etki Analizi</dc:description>
  <dc:identifier>DAG50QaYtQU</dc:identifier>
  <dcterms:modified xsi:type="dcterms:W3CDTF">2011-08-01T06:04:30Z</dcterms:modified>
  <cp:revision>1</cp:revision>
  <dc:title>Sunum - Simülasyon Tabanlı Eğitimlerin Etki Analizi</dc:title>
</cp:coreProperties>
</file>